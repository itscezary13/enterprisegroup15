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65"/>
    <p:restoredTop sz="94669"/>
  </p:normalViewPr>
  <p:slideViewPr>
    <p:cSldViewPr snapToGrid="0">
      <p:cViewPr>
        <p:scale>
          <a:sx n="82" d="100"/>
          <a:sy n="82" d="100"/>
        </p:scale>
        <p:origin x="144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29549A-147F-490B-B1C5-DAF12E5104A8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A5DB7E-8894-4DED-B519-790FFD1F3B16}">
      <dgm:prSet/>
      <dgm:spPr/>
      <dgm:t>
        <a:bodyPr/>
        <a:lstStyle/>
        <a:p>
          <a:r>
            <a:rPr lang="en-US" dirty="0"/>
            <a:t>Media was mostly consumed on cassettes, CD’s, DVD’s, vinyl records and VHS</a:t>
          </a:r>
        </a:p>
      </dgm:t>
    </dgm:pt>
    <dgm:pt modelId="{B429E192-AD09-403A-B634-2E1C3EC0C423}" type="parTrans" cxnId="{E69FE31D-11B8-44A6-9D83-5556A5AECB81}">
      <dgm:prSet/>
      <dgm:spPr/>
      <dgm:t>
        <a:bodyPr/>
        <a:lstStyle/>
        <a:p>
          <a:endParaRPr lang="en-US"/>
        </a:p>
      </dgm:t>
    </dgm:pt>
    <dgm:pt modelId="{A00EA1E5-3301-4AAD-8FDB-2B598A0F748E}" type="sibTrans" cxnId="{E69FE31D-11B8-44A6-9D83-5556A5AECB81}">
      <dgm:prSet/>
      <dgm:spPr/>
      <dgm:t>
        <a:bodyPr/>
        <a:lstStyle/>
        <a:p>
          <a:endParaRPr lang="en-US"/>
        </a:p>
      </dgm:t>
    </dgm:pt>
    <dgm:pt modelId="{C5D395E2-D7D3-4E46-8D9F-08D02D308D87}">
      <dgm:prSet/>
      <dgm:spPr/>
      <dgm:t>
        <a:bodyPr/>
        <a:lstStyle/>
        <a:p>
          <a:r>
            <a:rPr lang="en-US"/>
            <a:t>It was expensive and inconvenient for users</a:t>
          </a:r>
        </a:p>
      </dgm:t>
    </dgm:pt>
    <dgm:pt modelId="{08EC1C53-6905-4B96-8594-D4FBE973D000}" type="parTrans" cxnId="{88AAD49D-2DDE-426C-B995-3A2336B42A6F}">
      <dgm:prSet/>
      <dgm:spPr/>
      <dgm:t>
        <a:bodyPr/>
        <a:lstStyle/>
        <a:p>
          <a:endParaRPr lang="en-US"/>
        </a:p>
      </dgm:t>
    </dgm:pt>
    <dgm:pt modelId="{2B2C88D0-2841-448B-8CA2-2476E36C17B1}" type="sibTrans" cxnId="{88AAD49D-2DDE-426C-B995-3A2336B42A6F}">
      <dgm:prSet/>
      <dgm:spPr/>
      <dgm:t>
        <a:bodyPr/>
        <a:lstStyle/>
        <a:p>
          <a:endParaRPr lang="en-US"/>
        </a:p>
      </dgm:t>
    </dgm:pt>
    <dgm:pt modelId="{ADB3F868-1C26-4E77-810D-5274865C6A1F}">
      <dgm:prSet/>
      <dgm:spPr/>
      <dgm:t>
        <a:bodyPr/>
        <a:lstStyle/>
        <a:p>
          <a:r>
            <a:rPr lang="en-US" dirty="0"/>
            <a:t>Walkman, introduced in 1979, introduced the “mixtape culture” – similar to Playlists nowadays</a:t>
          </a:r>
        </a:p>
      </dgm:t>
    </dgm:pt>
    <dgm:pt modelId="{CF60B54A-2752-447D-8C5A-9B10F8F3733F}" type="parTrans" cxnId="{17D4B912-E633-4304-A72F-76D5CF9F3262}">
      <dgm:prSet/>
      <dgm:spPr/>
      <dgm:t>
        <a:bodyPr/>
        <a:lstStyle/>
        <a:p>
          <a:endParaRPr lang="en-US"/>
        </a:p>
      </dgm:t>
    </dgm:pt>
    <dgm:pt modelId="{92CF1092-E798-409B-A2B3-6A2E3CA4B819}" type="sibTrans" cxnId="{17D4B912-E633-4304-A72F-76D5CF9F3262}">
      <dgm:prSet/>
      <dgm:spPr/>
      <dgm:t>
        <a:bodyPr/>
        <a:lstStyle/>
        <a:p>
          <a:endParaRPr lang="en-US"/>
        </a:p>
      </dgm:t>
    </dgm:pt>
    <dgm:pt modelId="{37C18219-0C71-8D4F-88E1-F71D0DEDFAF7}" type="pres">
      <dgm:prSet presAssocID="{3529549A-147F-490B-B1C5-DAF12E5104A8}" presName="diagram" presStyleCnt="0">
        <dgm:presLayoutVars>
          <dgm:dir/>
          <dgm:resizeHandles val="exact"/>
        </dgm:presLayoutVars>
      </dgm:prSet>
      <dgm:spPr/>
    </dgm:pt>
    <dgm:pt modelId="{A97F7F1F-B42D-8E4D-AA81-30A07967C1E8}" type="pres">
      <dgm:prSet presAssocID="{62A5DB7E-8894-4DED-B519-790FFD1F3B16}" presName="node" presStyleLbl="node1" presStyleIdx="0" presStyleCnt="3" custLinFactNeighborX="7216" custLinFactNeighborY="-61615">
        <dgm:presLayoutVars>
          <dgm:bulletEnabled val="1"/>
        </dgm:presLayoutVars>
      </dgm:prSet>
      <dgm:spPr/>
    </dgm:pt>
    <dgm:pt modelId="{5F12C7C2-7816-F943-94DD-9FC69072E0C0}" type="pres">
      <dgm:prSet presAssocID="{A00EA1E5-3301-4AAD-8FDB-2B598A0F748E}" presName="sibTrans" presStyleLbl="sibTrans2D1" presStyleIdx="0" presStyleCnt="2"/>
      <dgm:spPr/>
    </dgm:pt>
    <dgm:pt modelId="{E352D3A3-BFF0-D446-9DDF-12310EB542DC}" type="pres">
      <dgm:prSet presAssocID="{A00EA1E5-3301-4AAD-8FDB-2B598A0F748E}" presName="connectorText" presStyleLbl="sibTrans2D1" presStyleIdx="0" presStyleCnt="2"/>
      <dgm:spPr/>
    </dgm:pt>
    <dgm:pt modelId="{3B128F38-FBD9-9E4C-BFD3-486BF821F44A}" type="pres">
      <dgm:prSet presAssocID="{C5D395E2-D7D3-4E46-8D9F-08D02D308D87}" presName="node" presStyleLbl="node1" presStyleIdx="1" presStyleCnt="3" custLinFactNeighborX="0" custLinFactNeighborY="-99355">
        <dgm:presLayoutVars>
          <dgm:bulletEnabled val="1"/>
        </dgm:presLayoutVars>
      </dgm:prSet>
      <dgm:spPr/>
    </dgm:pt>
    <dgm:pt modelId="{68291847-2827-4E4A-9A80-B1D80D5F2C6C}" type="pres">
      <dgm:prSet presAssocID="{2B2C88D0-2841-448B-8CA2-2476E36C17B1}" presName="sibTrans" presStyleLbl="sibTrans2D1" presStyleIdx="1" presStyleCnt="2"/>
      <dgm:spPr/>
    </dgm:pt>
    <dgm:pt modelId="{CB57EFD0-052D-C946-9D0F-FB08C04166E4}" type="pres">
      <dgm:prSet presAssocID="{2B2C88D0-2841-448B-8CA2-2476E36C17B1}" presName="connectorText" presStyleLbl="sibTrans2D1" presStyleIdx="1" presStyleCnt="2"/>
      <dgm:spPr/>
    </dgm:pt>
    <dgm:pt modelId="{3F7B7726-E60A-8A4A-857C-FE4507FA1A77}" type="pres">
      <dgm:prSet presAssocID="{ADB3F868-1C26-4E77-810D-5274865C6A1F}" presName="node" presStyleLbl="node1" presStyleIdx="2" presStyleCnt="3" custLinFactNeighborX="335" custLinFactNeighborY="-75595">
        <dgm:presLayoutVars>
          <dgm:bulletEnabled val="1"/>
        </dgm:presLayoutVars>
      </dgm:prSet>
      <dgm:spPr/>
    </dgm:pt>
  </dgm:ptLst>
  <dgm:cxnLst>
    <dgm:cxn modelId="{65D6D607-1C9D-4144-BDAD-29ACEF2301F9}" type="presOf" srcId="{62A5DB7E-8894-4DED-B519-790FFD1F3B16}" destId="{A97F7F1F-B42D-8E4D-AA81-30A07967C1E8}" srcOrd="0" destOrd="0" presId="urn:microsoft.com/office/officeart/2005/8/layout/process5"/>
    <dgm:cxn modelId="{17D4B912-E633-4304-A72F-76D5CF9F3262}" srcId="{3529549A-147F-490B-B1C5-DAF12E5104A8}" destId="{ADB3F868-1C26-4E77-810D-5274865C6A1F}" srcOrd="2" destOrd="0" parTransId="{CF60B54A-2752-447D-8C5A-9B10F8F3733F}" sibTransId="{92CF1092-E798-409B-A2B3-6A2E3CA4B819}"/>
    <dgm:cxn modelId="{E69FE31D-11B8-44A6-9D83-5556A5AECB81}" srcId="{3529549A-147F-490B-B1C5-DAF12E5104A8}" destId="{62A5DB7E-8894-4DED-B519-790FFD1F3B16}" srcOrd="0" destOrd="0" parTransId="{B429E192-AD09-403A-B634-2E1C3EC0C423}" sibTransId="{A00EA1E5-3301-4AAD-8FDB-2B598A0F748E}"/>
    <dgm:cxn modelId="{1A9B592A-2E6B-C842-8E41-E3C08375EBF4}" type="presOf" srcId="{ADB3F868-1C26-4E77-810D-5274865C6A1F}" destId="{3F7B7726-E60A-8A4A-857C-FE4507FA1A77}" srcOrd="0" destOrd="0" presId="urn:microsoft.com/office/officeart/2005/8/layout/process5"/>
    <dgm:cxn modelId="{220E9A3B-0551-EE42-9120-63ED46DA9328}" type="presOf" srcId="{2B2C88D0-2841-448B-8CA2-2476E36C17B1}" destId="{CB57EFD0-052D-C946-9D0F-FB08C04166E4}" srcOrd="1" destOrd="0" presId="urn:microsoft.com/office/officeart/2005/8/layout/process5"/>
    <dgm:cxn modelId="{2B292C63-10DF-BD48-B4CD-7E312CB82A8A}" type="presOf" srcId="{2B2C88D0-2841-448B-8CA2-2476E36C17B1}" destId="{68291847-2827-4E4A-9A80-B1D80D5F2C6C}" srcOrd="0" destOrd="0" presId="urn:microsoft.com/office/officeart/2005/8/layout/process5"/>
    <dgm:cxn modelId="{970F427E-38E5-8145-9011-B72E73721634}" type="presOf" srcId="{A00EA1E5-3301-4AAD-8FDB-2B598A0F748E}" destId="{E352D3A3-BFF0-D446-9DDF-12310EB542DC}" srcOrd="1" destOrd="0" presId="urn:microsoft.com/office/officeart/2005/8/layout/process5"/>
    <dgm:cxn modelId="{DE635095-1EF7-3249-869F-B8258A430BD1}" type="presOf" srcId="{C5D395E2-D7D3-4E46-8D9F-08D02D308D87}" destId="{3B128F38-FBD9-9E4C-BFD3-486BF821F44A}" srcOrd="0" destOrd="0" presId="urn:microsoft.com/office/officeart/2005/8/layout/process5"/>
    <dgm:cxn modelId="{88AAD49D-2DDE-426C-B995-3A2336B42A6F}" srcId="{3529549A-147F-490B-B1C5-DAF12E5104A8}" destId="{C5D395E2-D7D3-4E46-8D9F-08D02D308D87}" srcOrd="1" destOrd="0" parTransId="{08EC1C53-6905-4B96-8594-D4FBE973D000}" sibTransId="{2B2C88D0-2841-448B-8CA2-2476E36C17B1}"/>
    <dgm:cxn modelId="{C0F925C0-70A5-B042-8945-4EC0E93D193C}" type="presOf" srcId="{A00EA1E5-3301-4AAD-8FDB-2B598A0F748E}" destId="{5F12C7C2-7816-F943-94DD-9FC69072E0C0}" srcOrd="0" destOrd="0" presId="urn:microsoft.com/office/officeart/2005/8/layout/process5"/>
    <dgm:cxn modelId="{F70B0BF0-F3CB-5C4E-B98F-D3AD2F198249}" type="presOf" srcId="{3529549A-147F-490B-B1C5-DAF12E5104A8}" destId="{37C18219-0C71-8D4F-88E1-F71D0DEDFAF7}" srcOrd="0" destOrd="0" presId="urn:microsoft.com/office/officeart/2005/8/layout/process5"/>
    <dgm:cxn modelId="{5BCFEE88-6C70-D340-B31D-E59D1799091A}" type="presParOf" srcId="{37C18219-0C71-8D4F-88E1-F71D0DEDFAF7}" destId="{A97F7F1F-B42D-8E4D-AA81-30A07967C1E8}" srcOrd="0" destOrd="0" presId="urn:microsoft.com/office/officeart/2005/8/layout/process5"/>
    <dgm:cxn modelId="{CA21FEC6-37A4-8C42-8668-4AB535F3A343}" type="presParOf" srcId="{37C18219-0C71-8D4F-88E1-F71D0DEDFAF7}" destId="{5F12C7C2-7816-F943-94DD-9FC69072E0C0}" srcOrd="1" destOrd="0" presId="urn:microsoft.com/office/officeart/2005/8/layout/process5"/>
    <dgm:cxn modelId="{46841100-F351-A04D-AA64-849D6F901FD5}" type="presParOf" srcId="{5F12C7C2-7816-F943-94DD-9FC69072E0C0}" destId="{E352D3A3-BFF0-D446-9DDF-12310EB542DC}" srcOrd="0" destOrd="0" presId="urn:microsoft.com/office/officeart/2005/8/layout/process5"/>
    <dgm:cxn modelId="{69ED9050-B841-5D47-B121-CE9847F47578}" type="presParOf" srcId="{37C18219-0C71-8D4F-88E1-F71D0DEDFAF7}" destId="{3B128F38-FBD9-9E4C-BFD3-486BF821F44A}" srcOrd="2" destOrd="0" presId="urn:microsoft.com/office/officeart/2005/8/layout/process5"/>
    <dgm:cxn modelId="{2F1745A0-3B8F-5D4B-8707-9E829B33A82B}" type="presParOf" srcId="{37C18219-0C71-8D4F-88E1-F71D0DEDFAF7}" destId="{68291847-2827-4E4A-9A80-B1D80D5F2C6C}" srcOrd="3" destOrd="0" presId="urn:microsoft.com/office/officeart/2005/8/layout/process5"/>
    <dgm:cxn modelId="{F46B4E95-0F64-9345-BECA-E6E6C097B095}" type="presParOf" srcId="{68291847-2827-4E4A-9A80-B1D80D5F2C6C}" destId="{CB57EFD0-052D-C946-9D0F-FB08C04166E4}" srcOrd="0" destOrd="0" presId="urn:microsoft.com/office/officeart/2005/8/layout/process5"/>
    <dgm:cxn modelId="{9197FEB7-DC7F-F447-B3C8-069DA85902BD}" type="presParOf" srcId="{37C18219-0C71-8D4F-88E1-F71D0DEDFAF7}" destId="{3F7B7726-E60A-8A4A-857C-FE4507FA1A77}" srcOrd="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7F7F1F-B42D-8E4D-AA81-30A07967C1E8}">
      <dsp:nvSpPr>
        <dsp:cNvPr id="0" name=""/>
        <dsp:cNvSpPr/>
      </dsp:nvSpPr>
      <dsp:spPr>
        <a:xfrm>
          <a:off x="216021" y="207442"/>
          <a:ext cx="2860995" cy="17165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Media was mostly consumed on cassettes, CD’s, DVD’s, vinyl records and VHS</a:t>
          </a:r>
        </a:p>
      </dsp:txBody>
      <dsp:txXfrm>
        <a:off x="266298" y="257719"/>
        <a:ext cx="2760441" cy="1616043"/>
      </dsp:txXfrm>
    </dsp:sp>
    <dsp:sp modelId="{5F12C7C2-7816-F943-94DD-9FC69072E0C0}">
      <dsp:nvSpPr>
        <dsp:cNvPr id="0" name=""/>
        <dsp:cNvSpPr/>
      </dsp:nvSpPr>
      <dsp:spPr>
        <a:xfrm rot="21412467">
          <a:off x="3282995" y="608024"/>
          <a:ext cx="497853" cy="70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3283106" y="754001"/>
        <a:ext cx="348497" cy="425716"/>
      </dsp:txXfrm>
    </dsp:sp>
    <dsp:sp modelId="{3B128F38-FBD9-9E4C-BFD3-486BF821F44A}">
      <dsp:nvSpPr>
        <dsp:cNvPr id="0" name=""/>
        <dsp:cNvSpPr/>
      </dsp:nvSpPr>
      <dsp:spPr>
        <a:xfrm>
          <a:off x="4014966" y="0"/>
          <a:ext cx="2860995" cy="17165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It was expensive and inconvenient for users</a:t>
          </a:r>
        </a:p>
      </dsp:txBody>
      <dsp:txXfrm>
        <a:off x="4065243" y="50277"/>
        <a:ext cx="2760441" cy="1616043"/>
      </dsp:txXfrm>
    </dsp:sp>
    <dsp:sp modelId="{68291847-2827-4E4A-9A80-B1D80D5F2C6C}">
      <dsp:nvSpPr>
        <dsp:cNvPr id="0" name=""/>
        <dsp:cNvSpPr/>
      </dsp:nvSpPr>
      <dsp:spPr>
        <a:xfrm>
          <a:off x="7129835" y="503535"/>
          <a:ext cx="611604" cy="70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29835" y="645440"/>
        <a:ext cx="428123" cy="425716"/>
      </dsp:txXfrm>
    </dsp:sp>
    <dsp:sp modelId="{3F7B7726-E60A-8A4A-857C-FE4507FA1A77}">
      <dsp:nvSpPr>
        <dsp:cNvPr id="0" name=""/>
        <dsp:cNvSpPr/>
      </dsp:nvSpPr>
      <dsp:spPr>
        <a:xfrm>
          <a:off x="8029932" y="0"/>
          <a:ext cx="2860995" cy="17165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Walkman, introduced in 1979, introduced the “mixtape culture” – similar to Playlists nowadays</a:t>
          </a:r>
        </a:p>
      </dsp:txBody>
      <dsp:txXfrm>
        <a:off x="8080209" y="50277"/>
        <a:ext cx="2760441" cy="16160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5B096-70E6-B149-AB19-5D8F752B4D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9A91DA-88A1-7C4B-97F4-473199D745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10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9A91DA-88A1-7C4B-97F4-473199D7450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039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041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700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596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968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50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85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905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40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57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088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7706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5860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ickr.com/photos/slaterlibrary/4587179404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4.jpg"/><Relationship Id="rId12" Type="http://schemas.openxmlformats.org/officeDocument/2006/relationships/hyperlink" Target="https://www.flickr.com/photos/mlange_b/15782749050" TargetMode="Externa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6.jpg"/><Relationship Id="rId5" Type="http://schemas.openxmlformats.org/officeDocument/2006/relationships/diagramColors" Target="../diagrams/colors1.xml"/><Relationship Id="rId10" Type="http://schemas.openxmlformats.org/officeDocument/2006/relationships/hyperlink" Target="https://cs.wikipedia.org/wiki/Sony" TargetMode="Externa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132889348@N07/18409023820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sa/3.0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eofthenet.org/category/2020-sotn/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342D46-0C13-E75E-2154-694C140147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6606" b="9126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2F945E-EC14-2FD0-24D6-613CBA0AF0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Transition from Physical Media to Streaming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A67D1-2E03-340D-FD98-2BB1B2F2B1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900">
                <a:solidFill>
                  <a:srgbClr val="FFFFFF"/>
                </a:solidFill>
              </a:rPr>
              <a:t>Nature of Enterprise Computing – Group 15</a:t>
            </a:r>
          </a:p>
          <a:p>
            <a:pPr>
              <a:lnSpc>
                <a:spcPct val="120000"/>
              </a:lnSpc>
            </a:pPr>
            <a:r>
              <a:rPr lang="en-US" sz="900">
                <a:solidFill>
                  <a:srgbClr val="FFFFFF"/>
                </a:solidFill>
              </a:rPr>
              <a:t>By: Cezary Janus, Akaisha Gurung, Domagoj Jurisic, Chris Kiala and Jamiu Kusimo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4258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06BD704-01C2-4341-B99A-116CC7EC5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Hollywood wants you to forget about DVDs and physical media - YouTube">
            <a:extLst>
              <a:ext uri="{FF2B5EF4-FFF2-40B4-BE49-F238E27FC236}">
                <a16:creationId xmlns:a16="http://schemas.microsoft.com/office/drawing/2014/main" id="{BB634104-093D-88E2-E947-CD192ACCD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9466"/>
            <a:ext cx="14180949" cy="747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225C01B-A296-4FAA-AA46-794F27DF6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244DFB-A66F-5278-A397-BF887936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665540" cy="11430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/>
              <a:t>What our project is about:</a:t>
            </a:r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62713E66-598D-4B8A-9D2A-67C7AF46E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7EB3D-64A5-7775-9FBF-A8D2E651A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en-US" dirty="0"/>
              <a:t>Transition from CD’s, DVD’s and VHS towards services like Spotify and Netflix</a:t>
            </a:r>
          </a:p>
          <a:p>
            <a:r>
              <a:rPr lang="en-US" dirty="0"/>
              <a:t>Historical Development of it</a:t>
            </a:r>
          </a:p>
          <a:p>
            <a:r>
              <a:rPr lang="en-US" dirty="0"/>
              <a:t>Looking it it from business and (x) viewpoints</a:t>
            </a:r>
          </a:p>
          <a:p>
            <a:r>
              <a:rPr lang="en-US" dirty="0"/>
              <a:t>Considering ethical implications of it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021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B06AB-E393-77E7-2814-B1A22138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Historical Timeline</a:t>
            </a:r>
          </a:p>
        </p:txBody>
      </p:sp>
      <p:pic>
        <p:nvPicPr>
          <p:cNvPr id="8" name="Content Placeholder 7" descr="A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765A4882-B47A-682D-7F75-4680E205A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4600" y="2154265"/>
            <a:ext cx="6802799" cy="4230903"/>
          </a:xfrm>
        </p:spPr>
      </p:pic>
    </p:spTree>
    <p:extLst>
      <p:ext uri="{BB962C8B-B14F-4D97-AF65-F5344CB8AC3E}">
        <p14:creationId xmlns:p14="http://schemas.microsoft.com/office/powerpoint/2010/main" val="1423737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02ABD-DA2E-3816-EC4C-14364F51E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Era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621EEB63-7276-A5BC-0AE2-1BFFE96E76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6503338"/>
              </p:ext>
            </p:extLst>
          </p:nvPr>
        </p:nvGraphicFramePr>
        <p:xfrm>
          <a:off x="640080" y="1952786"/>
          <a:ext cx="10890928" cy="42468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 descr="Rows of video games in cases&#10;&#10;AI-generated content may be incorrect.">
            <a:extLst>
              <a:ext uri="{FF2B5EF4-FFF2-40B4-BE49-F238E27FC236}">
                <a16:creationId xmlns:a16="http://schemas.microsoft.com/office/drawing/2014/main" id="{B9E651C4-16B8-2FD1-86AC-ED2F138581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4470400" y="3916622"/>
            <a:ext cx="3251200" cy="243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646AF6-17C6-384D-4C7A-DEFB58E5C6BF}"/>
              </a:ext>
            </a:extLst>
          </p:cNvPr>
          <p:cNvSpPr txBox="1"/>
          <p:nvPr/>
        </p:nvSpPr>
        <p:spPr>
          <a:xfrm>
            <a:off x="5564808" y="6435449"/>
            <a:ext cx="288957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VHS Tapes in Stores</a:t>
            </a:r>
          </a:p>
        </p:txBody>
      </p:sp>
      <p:pic>
        <p:nvPicPr>
          <p:cNvPr id="8" name="Picture 7" descr="A close-up of a walkman&#10;&#10;AI-generated content may be incorrect.">
            <a:extLst>
              <a:ext uri="{FF2B5EF4-FFF2-40B4-BE49-F238E27FC236}">
                <a16:creationId xmlns:a16="http://schemas.microsoft.com/office/drawing/2014/main" id="{937FB009-ABBC-E8D5-F5DC-A44BA059FC7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8547908" y="4072012"/>
            <a:ext cx="2889573" cy="2363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81C5E1-6CF9-91AE-E9B3-DA86E6BED8D3}"/>
              </a:ext>
            </a:extLst>
          </p:cNvPr>
          <p:cNvSpPr txBox="1"/>
          <p:nvPr/>
        </p:nvSpPr>
        <p:spPr>
          <a:xfrm>
            <a:off x="9780884" y="6435449"/>
            <a:ext cx="288957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Walkman</a:t>
            </a:r>
          </a:p>
        </p:txBody>
      </p:sp>
      <p:pic>
        <p:nvPicPr>
          <p:cNvPr id="12" name="Picture 11" descr="A close-up of several cds&#10;&#10;AI-generated content may be incorrect.">
            <a:extLst>
              <a:ext uri="{FF2B5EF4-FFF2-40B4-BE49-F238E27FC236}">
                <a16:creationId xmlns:a16="http://schemas.microsoft.com/office/drawing/2014/main" id="{0BC9918F-000A-B022-97C4-D69221F1710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543242" y="3916622"/>
            <a:ext cx="3514004" cy="23438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D47B38D-3EA1-E08F-99FD-1BD2991965EE}"/>
              </a:ext>
            </a:extLst>
          </p:cNvPr>
          <p:cNvSpPr txBox="1"/>
          <p:nvPr/>
        </p:nvSpPr>
        <p:spPr>
          <a:xfrm>
            <a:off x="2050147" y="6320033"/>
            <a:ext cx="35140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CD’s</a:t>
            </a:r>
          </a:p>
        </p:txBody>
      </p:sp>
    </p:spTree>
    <p:extLst>
      <p:ext uri="{BB962C8B-B14F-4D97-AF65-F5344CB8AC3E}">
        <p14:creationId xmlns:p14="http://schemas.microsoft.com/office/powerpoint/2010/main" val="3591255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06BD704-01C2-4341-B99A-116CC7EC5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omputer screen with a login screen&#10;&#10;AI-generated content may be incorrect.">
            <a:extLst>
              <a:ext uri="{FF2B5EF4-FFF2-40B4-BE49-F238E27FC236}">
                <a16:creationId xmlns:a16="http://schemas.microsoft.com/office/drawing/2014/main" id="{8C9D0709-7B68-1BBD-68EE-1C5E32213A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/>
          </a:stretch>
        </p:blipFill>
        <p:spPr>
          <a:xfrm>
            <a:off x="-247973" y="-1655861"/>
            <a:ext cx="15353655" cy="8636433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225C01B-A296-4FAA-AA46-794F27DF6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66685D-BFCB-4DF4-1223-F2738281B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665540" cy="1143000"/>
          </a:xfrm>
        </p:spPr>
        <p:txBody>
          <a:bodyPr anchor="t">
            <a:normAutofit/>
          </a:bodyPr>
          <a:lstStyle/>
          <a:p>
            <a:r>
              <a:rPr lang="en-US" dirty="0"/>
              <a:t>Transitional Period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713E66-598D-4B8A-9D2A-67C7AF46E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5D003-EA24-15DE-D3AE-AD9E212E1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700"/>
              <a:t>MP3 File introduced in the 1990s compressing size of audio files</a:t>
            </a:r>
          </a:p>
          <a:p>
            <a:pPr>
              <a:lnSpc>
                <a:spcPct val="110000"/>
              </a:lnSpc>
            </a:pPr>
            <a:r>
              <a:rPr lang="en-US" sz="1700"/>
              <a:t>Peer-To-Peer era launched by Napster; filesharing erupted in popularity</a:t>
            </a:r>
          </a:p>
          <a:p>
            <a:pPr>
              <a:lnSpc>
                <a:spcPct val="110000"/>
              </a:lnSpc>
            </a:pPr>
            <a:r>
              <a:rPr lang="en-US" sz="1700"/>
              <a:t>Napster entered a legal battle with the music industry and shut in 2001</a:t>
            </a:r>
          </a:p>
          <a:p>
            <a:pPr>
              <a:lnSpc>
                <a:spcPct val="110000"/>
              </a:lnSpc>
            </a:pPr>
            <a:r>
              <a:rPr lang="en-US" sz="1700"/>
              <a:t>Peer-To-Peer era clearly showed that the idea of free music was revolutionary for customers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A8F124-5B0B-EF0E-ECDA-787EF8BD966E}"/>
              </a:ext>
            </a:extLst>
          </p:cNvPr>
          <p:cNvSpPr txBox="1"/>
          <p:nvPr/>
        </p:nvSpPr>
        <p:spPr>
          <a:xfrm>
            <a:off x="11974274" y="6752035"/>
            <a:ext cx="3131408" cy="200055"/>
          </a:xfrm>
          <a:prstGeom prst="rect">
            <a:avLst/>
          </a:prstGeom>
          <a:solidFill>
            <a:srgbClr val="000000"/>
          </a:solidFill>
        </p:spPr>
        <p:txBody>
          <a:bodyPr wrap="squar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flickr.com/photos/132889348@N07/184090238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760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30DF5-0092-29CD-824C-FB9D7A8E6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914400"/>
            <a:ext cx="4261104" cy="1097280"/>
          </a:xfrm>
        </p:spPr>
        <p:txBody>
          <a:bodyPr anchor="t">
            <a:normAutofit/>
          </a:bodyPr>
          <a:lstStyle/>
          <a:p>
            <a:r>
              <a:rPr lang="en-US" sz="3600"/>
              <a:t>Streaming 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C9BE7-303F-EE17-7367-91BF980E7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176036"/>
            <a:ext cx="4261104" cy="41218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400"/>
              <a:t>Apple launches iTunes offering digital downloads for less than $1</a:t>
            </a:r>
          </a:p>
          <a:p>
            <a:pPr>
              <a:lnSpc>
                <a:spcPct val="110000"/>
              </a:lnSpc>
            </a:pPr>
            <a:r>
              <a:rPr lang="en-US" sz="1400"/>
              <a:t>iPod released and becomes a symbol of portable listening</a:t>
            </a:r>
          </a:p>
          <a:p>
            <a:pPr>
              <a:lnSpc>
                <a:spcPct val="110000"/>
              </a:lnSpc>
            </a:pPr>
            <a:r>
              <a:rPr lang="en-US" sz="1400"/>
              <a:t>YouTube launched streaming user-generated content</a:t>
            </a:r>
          </a:p>
          <a:p>
            <a:pPr>
              <a:lnSpc>
                <a:spcPct val="110000"/>
              </a:lnSpc>
            </a:pPr>
            <a:r>
              <a:rPr lang="en-US" sz="1400"/>
              <a:t>Spotify and Netflix launch in late 2008’s</a:t>
            </a:r>
          </a:p>
          <a:p>
            <a:pPr>
              <a:lnSpc>
                <a:spcPct val="110000"/>
              </a:lnSpc>
            </a:pPr>
            <a:r>
              <a:rPr lang="en-US" sz="1400"/>
              <a:t>Netflix produces and releases 2013 shifting from simply licensing content</a:t>
            </a:r>
          </a:p>
          <a:p>
            <a:pPr>
              <a:lnSpc>
                <a:spcPct val="110000"/>
              </a:lnSpc>
            </a:pPr>
            <a:r>
              <a:rPr lang="en-US" sz="1400"/>
              <a:t>Spotify faces pay disputes</a:t>
            </a:r>
          </a:p>
          <a:p>
            <a:pPr>
              <a:lnSpc>
                <a:spcPct val="110000"/>
              </a:lnSpc>
            </a:pPr>
            <a:r>
              <a:rPr lang="en-US" sz="1400"/>
              <a:t>Competition grows; studios create their own streaming apps instead of licensing. </a:t>
            </a:r>
          </a:p>
          <a:p>
            <a:pPr>
              <a:lnSpc>
                <a:spcPct val="110000"/>
              </a:lnSpc>
            </a:pPr>
            <a:r>
              <a:rPr lang="en-US" sz="1400"/>
              <a:t>Streaming wars started. </a:t>
            </a:r>
          </a:p>
          <a:p>
            <a:pPr>
              <a:lnSpc>
                <a:spcPct val="110000"/>
              </a:lnSpc>
            </a:pPr>
            <a:endParaRPr lang="en-US" sz="1400"/>
          </a:p>
        </p:txBody>
      </p:sp>
      <p:pic>
        <p:nvPicPr>
          <p:cNvPr id="5" name="Picture 4" descr="A group of logos of different brands&#10;&#10;AI-generated content may be incorrect.">
            <a:extLst>
              <a:ext uri="{FF2B5EF4-FFF2-40B4-BE49-F238E27FC236}">
                <a16:creationId xmlns:a16="http://schemas.microsoft.com/office/drawing/2014/main" id="{DE119D44-ABBA-1985-6982-1522E2B8C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731" r="3915"/>
          <a:stretch>
            <a:fillRect/>
          </a:stretch>
        </p:blipFill>
        <p:spPr>
          <a:xfrm>
            <a:off x="4901183" y="436184"/>
            <a:ext cx="7290817" cy="598563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2025DBA-8780-9CA0-2826-FF6E3BD1A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672328" y="6267921"/>
            <a:ext cx="6519672" cy="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264149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242</Words>
  <Application>Microsoft Macintosh PowerPoint</Application>
  <PresentationFormat>Widescreen</PresentationFormat>
  <Paragraphs>32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Grandview Display</vt:lpstr>
      <vt:lpstr>DashVTI</vt:lpstr>
      <vt:lpstr>Transition from Physical Media to Streaming</vt:lpstr>
      <vt:lpstr>What our project is about:</vt:lpstr>
      <vt:lpstr>Historical Timeline</vt:lpstr>
      <vt:lpstr>Physical Era</vt:lpstr>
      <vt:lpstr>Transitional Period</vt:lpstr>
      <vt:lpstr>Streaming Era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A00021774 Cezary Janus</dc:creator>
  <cp:lastModifiedBy>A00021774 Cezary Janus</cp:lastModifiedBy>
  <cp:revision>1</cp:revision>
  <dcterms:created xsi:type="dcterms:W3CDTF">2025-11-26T13:47:17Z</dcterms:created>
  <dcterms:modified xsi:type="dcterms:W3CDTF">2025-11-26T14:27:14Z</dcterms:modified>
</cp:coreProperties>
</file>