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12"/>
  </p:notesMasterIdLst>
  <p:sldIdLst>
    <p:sldId id="256" r:id="rId2"/>
    <p:sldId id="257" r:id="rId3"/>
    <p:sldId id="258" r:id="rId4"/>
    <p:sldId id="259" r:id="rId5"/>
    <p:sldId id="260" r:id="rId6"/>
    <p:sldId id="261" r:id="rId7"/>
    <p:sldId id="266" r:id="rId8"/>
    <p:sldId id="267" r:id="rId9"/>
    <p:sldId id="269"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95"/>
    <p:restoredTop sz="94669"/>
  </p:normalViewPr>
  <p:slideViewPr>
    <p:cSldViewPr snapToGrid="0">
      <p:cViewPr varScale="1">
        <p:scale>
          <a:sx n="72" d="100"/>
          <a:sy n="72" d="100"/>
        </p:scale>
        <p:origin x="3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29549A-147F-490B-B1C5-DAF12E5104A8}" type="doc">
      <dgm:prSet loTypeId="urn:microsoft.com/office/officeart/2005/8/layout/process5" loCatId="process" qsTypeId="urn:microsoft.com/office/officeart/2005/8/quickstyle/simple1" qsCatId="simple" csTypeId="urn:microsoft.com/office/officeart/2005/8/colors/accent1_2" csCatId="accent1"/>
      <dgm:spPr/>
      <dgm:t>
        <a:bodyPr/>
        <a:lstStyle/>
        <a:p>
          <a:endParaRPr lang="en-US"/>
        </a:p>
      </dgm:t>
    </dgm:pt>
    <dgm:pt modelId="{62A5DB7E-8894-4DED-B519-790FFD1F3B16}">
      <dgm:prSet/>
      <dgm:spPr/>
      <dgm:t>
        <a:bodyPr/>
        <a:lstStyle/>
        <a:p>
          <a:r>
            <a:rPr lang="en-US" dirty="0"/>
            <a:t>Media was mostly consumed on cassettes, CD’s, DVD’s, vinyl records and VHS</a:t>
          </a:r>
        </a:p>
      </dgm:t>
    </dgm:pt>
    <dgm:pt modelId="{B429E192-AD09-403A-B634-2E1C3EC0C423}" type="parTrans" cxnId="{E69FE31D-11B8-44A6-9D83-5556A5AECB81}">
      <dgm:prSet/>
      <dgm:spPr/>
      <dgm:t>
        <a:bodyPr/>
        <a:lstStyle/>
        <a:p>
          <a:endParaRPr lang="en-US"/>
        </a:p>
      </dgm:t>
    </dgm:pt>
    <dgm:pt modelId="{A00EA1E5-3301-4AAD-8FDB-2B598A0F748E}" type="sibTrans" cxnId="{E69FE31D-11B8-44A6-9D83-5556A5AECB81}">
      <dgm:prSet/>
      <dgm:spPr/>
      <dgm:t>
        <a:bodyPr/>
        <a:lstStyle/>
        <a:p>
          <a:endParaRPr lang="en-US"/>
        </a:p>
      </dgm:t>
    </dgm:pt>
    <dgm:pt modelId="{C5D395E2-D7D3-4E46-8D9F-08D02D308D87}">
      <dgm:prSet/>
      <dgm:spPr/>
      <dgm:t>
        <a:bodyPr/>
        <a:lstStyle/>
        <a:p>
          <a:r>
            <a:rPr lang="en-US"/>
            <a:t>It was expensive and inconvenient for users</a:t>
          </a:r>
        </a:p>
      </dgm:t>
    </dgm:pt>
    <dgm:pt modelId="{08EC1C53-6905-4B96-8594-D4FBE973D000}" type="parTrans" cxnId="{88AAD49D-2DDE-426C-B995-3A2336B42A6F}">
      <dgm:prSet/>
      <dgm:spPr/>
      <dgm:t>
        <a:bodyPr/>
        <a:lstStyle/>
        <a:p>
          <a:endParaRPr lang="en-US"/>
        </a:p>
      </dgm:t>
    </dgm:pt>
    <dgm:pt modelId="{2B2C88D0-2841-448B-8CA2-2476E36C17B1}" type="sibTrans" cxnId="{88AAD49D-2DDE-426C-B995-3A2336B42A6F}">
      <dgm:prSet/>
      <dgm:spPr/>
      <dgm:t>
        <a:bodyPr/>
        <a:lstStyle/>
        <a:p>
          <a:endParaRPr lang="en-US"/>
        </a:p>
      </dgm:t>
    </dgm:pt>
    <dgm:pt modelId="{ADB3F868-1C26-4E77-810D-5274865C6A1F}">
      <dgm:prSet/>
      <dgm:spPr/>
      <dgm:t>
        <a:bodyPr/>
        <a:lstStyle/>
        <a:p>
          <a:r>
            <a:rPr lang="en-US" dirty="0"/>
            <a:t>Walkman, introduced in 1979, introduced the “mixtape culture” – similar to Playlists nowadays</a:t>
          </a:r>
        </a:p>
      </dgm:t>
    </dgm:pt>
    <dgm:pt modelId="{CF60B54A-2752-447D-8C5A-9B10F8F3733F}" type="parTrans" cxnId="{17D4B912-E633-4304-A72F-76D5CF9F3262}">
      <dgm:prSet/>
      <dgm:spPr/>
      <dgm:t>
        <a:bodyPr/>
        <a:lstStyle/>
        <a:p>
          <a:endParaRPr lang="en-US"/>
        </a:p>
      </dgm:t>
    </dgm:pt>
    <dgm:pt modelId="{92CF1092-E798-409B-A2B3-6A2E3CA4B819}" type="sibTrans" cxnId="{17D4B912-E633-4304-A72F-76D5CF9F3262}">
      <dgm:prSet/>
      <dgm:spPr/>
      <dgm:t>
        <a:bodyPr/>
        <a:lstStyle/>
        <a:p>
          <a:endParaRPr lang="en-US"/>
        </a:p>
      </dgm:t>
    </dgm:pt>
    <dgm:pt modelId="{37C18219-0C71-8D4F-88E1-F71D0DEDFAF7}" type="pres">
      <dgm:prSet presAssocID="{3529549A-147F-490B-B1C5-DAF12E5104A8}" presName="diagram" presStyleCnt="0">
        <dgm:presLayoutVars>
          <dgm:dir/>
          <dgm:resizeHandles val="exact"/>
        </dgm:presLayoutVars>
      </dgm:prSet>
      <dgm:spPr/>
    </dgm:pt>
    <dgm:pt modelId="{A97F7F1F-B42D-8E4D-AA81-30A07967C1E8}" type="pres">
      <dgm:prSet presAssocID="{62A5DB7E-8894-4DED-B519-790FFD1F3B16}" presName="node" presStyleLbl="node1" presStyleIdx="0" presStyleCnt="3" custLinFactNeighborX="7216" custLinFactNeighborY="-61615">
        <dgm:presLayoutVars>
          <dgm:bulletEnabled val="1"/>
        </dgm:presLayoutVars>
      </dgm:prSet>
      <dgm:spPr/>
    </dgm:pt>
    <dgm:pt modelId="{5F12C7C2-7816-F943-94DD-9FC69072E0C0}" type="pres">
      <dgm:prSet presAssocID="{A00EA1E5-3301-4AAD-8FDB-2B598A0F748E}" presName="sibTrans" presStyleLbl="sibTrans2D1" presStyleIdx="0" presStyleCnt="2"/>
      <dgm:spPr/>
    </dgm:pt>
    <dgm:pt modelId="{E352D3A3-BFF0-D446-9DDF-12310EB542DC}" type="pres">
      <dgm:prSet presAssocID="{A00EA1E5-3301-4AAD-8FDB-2B598A0F748E}" presName="connectorText" presStyleLbl="sibTrans2D1" presStyleIdx="0" presStyleCnt="2"/>
      <dgm:spPr/>
    </dgm:pt>
    <dgm:pt modelId="{3B128F38-FBD9-9E4C-BFD3-486BF821F44A}" type="pres">
      <dgm:prSet presAssocID="{C5D395E2-D7D3-4E46-8D9F-08D02D308D87}" presName="node" presStyleLbl="node1" presStyleIdx="1" presStyleCnt="3" custLinFactNeighborX="0" custLinFactNeighborY="-99355">
        <dgm:presLayoutVars>
          <dgm:bulletEnabled val="1"/>
        </dgm:presLayoutVars>
      </dgm:prSet>
      <dgm:spPr/>
    </dgm:pt>
    <dgm:pt modelId="{68291847-2827-4E4A-9A80-B1D80D5F2C6C}" type="pres">
      <dgm:prSet presAssocID="{2B2C88D0-2841-448B-8CA2-2476E36C17B1}" presName="sibTrans" presStyleLbl="sibTrans2D1" presStyleIdx="1" presStyleCnt="2"/>
      <dgm:spPr/>
    </dgm:pt>
    <dgm:pt modelId="{CB57EFD0-052D-C946-9D0F-FB08C04166E4}" type="pres">
      <dgm:prSet presAssocID="{2B2C88D0-2841-448B-8CA2-2476E36C17B1}" presName="connectorText" presStyleLbl="sibTrans2D1" presStyleIdx="1" presStyleCnt="2"/>
      <dgm:spPr/>
    </dgm:pt>
    <dgm:pt modelId="{3F7B7726-E60A-8A4A-857C-FE4507FA1A77}" type="pres">
      <dgm:prSet presAssocID="{ADB3F868-1C26-4E77-810D-5274865C6A1F}" presName="node" presStyleLbl="node1" presStyleIdx="2" presStyleCnt="3" custLinFactNeighborX="335" custLinFactNeighborY="-75595">
        <dgm:presLayoutVars>
          <dgm:bulletEnabled val="1"/>
        </dgm:presLayoutVars>
      </dgm:prSet>
      <dgm:spPr/>
    </dgm:pt>
  </dgm:ptLst>
  <dgm:cxnLst>
    <dgm:cxn modelId="{65D6D607-1C9D-4144-BDAD-29ACEF2301F9}" type="presOf" srcId="{62A5DB7E-8894-4DED-B519-790FFD1F3B16}" destId="{A97F7F1F-B42D-8E4D-AA81-30A07967C1E8}" srcOrd="0" destOrd="0" presId="urn:microsoft.com/office/officeart/2005/8/layout/process5"/>
    <dgm:cxn modelId="{17D4B912-E633-4304-A72F-76D5CF9F3262}" srcId="{3529549A-147F-490B-B1C5-DAF12E5104A8}" destId="{ADB3F868-1C26-4E77-810D-5274865C6A1F}" srcOrd="2" destOrd="0" parTransId="{CF60B54A-2752-447D-8C5A-9B10F8F3733F}" sibTransId="{92CF1092-E798-409B-A2B3-6A2E3CA4B819}"/>
    <dgm:cxn modelId="{E69FE31D-11B8-44A6-9D83-5556A5AECB81}" srcId="{3529549A-147F-490B-B1C5-DAF12E5104A8}" destId="{62A5DB7E-8894-4DED-B519-790FFD1F3B16}" srcOrd="0" destOrd="0" parTransId="{B429E192-AD09-403A-B634-2E1C3EC0C423}" sibTransId="{A00EA1E5-3301-4AAD-8FDB-2B598A0F748E}"/>
    <dgm:cxn modelId="{1A9B592A-2E6B-C842-8E41-E3C08375EBF4}" type="presOf" srcId="{ADB3F868-1C26-4E77-810D-5274865C6A1F}" destId="{3F7B7726-E60A-8A4A-857C-FE4507FA1A77}" srcOrd="0" destOrd="0" presId="urn:microsoft.com/office/officeart/2005/8/layout/process5"/>
    <dgm:cxn modelId="{220E9A3B-0551-EE42-9120-63ED46DA9328}" type="presOf" srcId="{2B2C88D0-2841-448B-8CA2-2476E36C17B1}" destId="{CB57EFD0-052D-C946-9D0F-FB08C04166E4}" srcOrd="1" destOrd="0" presId="urn:microsoft.com/office/officeart/2005/8/layout/process5"/>
    <dgm:cxn modelId="{2B292C63-10DF-BD48-B4CD-7E312CB82A8A}" type="presOf" srcId="{2B2C88D0-2841-448B-8CA2-2476E36C17B1}" destId="{68291847-2827-4E4A-9A80-B1D80D5F2C6C}" srcOrd="0" destOrd="0" presId="urn:microsoft.com/office/officeart/2005/8/layout/process5"/>
    <dgm:cxn modelId="{970F427E-38E5-8145-9011-B72E73721634}" type="presOf" srcId="{A00EA1E5-3301-4AAD-8FDB-2B598A0F748E}" destId="{E352D3A3-BFF0-D446-9DDF-12310EB542DC}" srcOrd="1" destOrd="0" presId="urn:microsoft.com/office/officeart/2005/8/layout/process5"/>
    <dgm:cxn modelId="{DE635095-1EF7-3249-869F-B8258A430BD1}" type="presOf" srcId="{C5D395E2-D7D3-4E46-8D9F-08D02D308D87}" destId="{3B128F38-FBD9-9E4C-BFD3-486BF821F44A}" srcOrd="0" destOrd="0" presId="urn:microsoft.com/office/officeart/2005/8/layout/process5"/>
    <dgm:cxn modelId="{88AAD49D-2DDE-426C-B995-3A2336B42A6F}" srcId="{3529549A-147F-490B-B1C5-DAF12E5104A8}" destId="{C5D395E2-D7D3-4E46-8D9F-08D02D308D87}" srcOrd="1" destOrd="0" parTransId="{08EC1C53-6905-4B96-8594-D4FBE973D000}" sibTransId="{2B2C88D0-2841-448B-8CA2-2476E36C17B1}"/>
    <dgm:cxn modelId="{C0F925C0-70A5-B042-8945-4EC0E93D193C}" type="presOf" srcId="{A00EA1E5-3301-4AAD-8FDB-2B598A0F748E}" destId="{5F12C7C2-7816-F943-94DD-9FC69072E0C0}" srcOrd="0" destOrd="0" presId="urn:microsoft.com/office/officeart/2005/8/layout/process5"/>
    <dgm:cxn modelId="{F70B0BF0-F3CB-5C4E-B98F-D3AD2F198249}" type="presOf" srcId="{3529549A-147F-490B-B1C5-DAF12E5104A8}" destId="{37C18219-0C71-8D4F-88E1-F71D0DEDFAF7}" srcOrd="0" destOrd="0" presId="urn:microsoft.com/office/officeart/2005/8/layout/process5"/>
    <dgm:cxn modelId="{5BCFEE88-6C70-D340-B31D-E59D1799091A}" type="presParOf" srcId="{37C18219-0C71-8D4F-88E1-F71D0DEDFAF7}" destId="{A97F7F1F-B42D-8E4D-AA81-30A07967C1E8}" srcOrd="0" destOrd="0" presId="urn:microsoft.com/office/officeart/2005/8/layout/process5"/>
    <dgm:cxn modelId="{CA21FEC6-37A4-8C42-8668-4AB535F3A343}" type="presParOf" srcId="{37C18219-0C71-8D4F-88E1-F71D0DEDFAF7}" destId="{5F12C7C2-7816-F943-94DD-9FC69072E0C0}" srcOrd="1" destOrd="0" presId="urn:microsoft.com/office/officeart/2005/8/layout/process5"/>
    <dgm:cxn modelId="{46841100-F351-A04D-AA64-849D6F901FD5}" type="presParOf" srcId="{5F12C7C2-7816-F943-94DD-9FC69072E0C0}" destId="{E352D3A3-BFF0-D446-9DDF-12310EB542DC}" srcOrd="0" destOrd="0" presId="urn:microsoft.com/office/officeart/2005/8/layout/process5"/>
    <dgm:cxn modelId="{69ED9050-B841-5D47-B121-CE9847F47578}" type="presParOf" srcId="{37C18219-0C71-8D4F-88E1-F71D0DEDFAF7}" destId="{3B128F38-FBD9-9E4C-BFD3-486BF821F44A}" srcOrd="2" destOrd="0" presId="urn:microsoft.com/office/officeart/2005/8/layout/process5"/>
    <dgm:cxn modelId="{2F1745A0-3B8F-5D4B-8707-9E829B33A82B}" type="presParOf" srcId="{37C18219-0C71-8D4F-88E1-F71D0DEDFAF7}" destId="{68291847-2827-4E4A-9A80-B1D80D5F2C6C}" srcOrd="3" destOrd="0" presId="urn:microsoft.com/office/officeart/2005/8/layout/process5"/>
    <dgm:cxn modelId="{F46B4E95-0F64-9345-BECA-E6E6C097B095}" type="presParOf" srcId="{68291847-2827-4E4A-9A80-B1D80D5F2C6C}" destId="{CB57EFD0-052D-C946-9D0F-FB08C04166E4}" srcOrd="0" destOrd="0" presId="urn:microsoft.com/office/officeart/2005/8/layout/process5"/>
    <dgm:cxn modelId="{9197FEB7-DC7F-F447-B3C8-069DA85902BD}" type="presParOf" srcId="{37C18219-0C71-8D4F-88E1-F71D0DEDFAF7}" destId="{3F7B7726-E60A-8A4A-857C-FE4507FA1A77}" srcOrd="4"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7F7F1F-B42D-8E4D-AA81-30A07967C1E8}">
      <dsp:nvSpPr>
        <dsp:cNvPr id="0" name=""/>
        <dsp:cNvSpPr/>
      </dsp:nvSpPr>
      <dsp:spPr>
        <a:xfrm>
          <a:off x="216021" y="207442"/>
          <a:ext cx="2860995" cy="171659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Media was mostly consumed on cassettes, CD’s, DVD’s, vinyl records and VHS</a:t>
          </a:r>
        </a:p>
      </dsp:txBody>
      <dsp:txXfrm>
        <a:off x="266298" y="257719"/>
        <a:ext cx="2760441" cy="1616043"/>
      </dsp:txXfrm>
    </dsp:sp>
    <dsp:sp modelId="{5F12C7C2-7816-F943-94DD-9FC69072E0C0}">
      <dsp:nvSpPr>
        <dsp:cNvPr id="0" name=""/>
        <dsp:cNvSpPr/>
      </dsp:nvSpPr>
      <dsp:spPr>
        <a:xfrm rot="21412467">
          <a:off x="3282995" y="608024"/>
          <a:ext cx="497853" cy="709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3283106" y="754001"/>
        <a:ext cx="348497" cy="425716"/>
      </dsp:txXfrm>
    </dsp:sp>
    <dsp:sp modelId="{3B128F38-FBD9-9E4C-BFD3-486BF821F44A}">
      <dsp:nvSpPr>
        <dsp:cNvPr id="0" name=""/>
        <dsp:cNvSpPr/>
      </dsp:nvSpPr>
      <dsp:spPr>
        <a:xfrm>
          <a:off x="4014966" y="0"/>
          <a:ext cx="2860995" cy="171659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It was expensive and inconvenient for users</a:t>
          </a:r>
        </a:p>
      </dsp:txBody>
      <dsp:txXfrm>
        <a:off x="4065243" y="50277"/>
        <a:ext cx="2760441" cy="1616043"/>
      </dsp:txXfrm>
    </dsp:sp>
    <dsp:sp modelId="{68291847-2827-4E4A-9A80-B1D80D5F2C6C}">
      <dsp:nvSpPr>
        <dsp:cNvPr id="0" name=""/>
        <dsp:cNvSpPr/>
      </dsp:nvSpPr>
      <dsp:spPr>
        <a:xfrm>
          <a:off x="7129835" y="503535"/>
          <a:ext cx="611604" cy="709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7129835" y="645440"/>
        <a:ext cx="428123" cy="425716"/>
      </dsp:txXfrm>
    </dsp:sp>
    <dsp:sp modelId="{3F7B7726-E60A-8A4A-857C-FE4507FA1A77}">
      <dsp:nvSpPr>
        <dsp:cNvPr id="0" name=""/>
        <dsp:cNvSpPr/>
      </dsp:nvSpPr>
      <dsp:spPr>
        <a:xfrm>
          <a:off x="8029932" y="0"/>
          <a:ext cx="2860995" cy="171659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Walkman, introduced in 1979, introduced the “mixtape culture” – similar to Playlists nowadays</a:t>
          </a:r>
        </a:p>
      </dsp:txBody>
      <dsp:txXfrm>
        <a:off x="8080209" y="50277"/>
        <a:ext cx="2760441" cy="1616043"/>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5B096-70E6-B149-AB19-5D8F752B4D69}" type="datetimeFigureOut">
              <a:rPr lang="en-US" smtClean="0"/>
              <a:t>11/28/2025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9A91DA-88A1-7C4B-97F4-473199D74506}" type="slidenum">
              <a:rPr lang="en-US" smtClean="0"/>
              <a:t>‹#›</a:t>
            </a:fld>
            <a:endParaRPr lang="en-US"/>
          </a:p>
        </p:txBody>
      </p:sp>
    </p:spTree>
    <p:extLst>
      <p:ext uri="{BB962C8B-B14F-4D97-AF65-F5344CB8AC3E}">
        <p14:creationId xmlns:p14="http://schemas.microsoft.com/office/powerpoint/2010/main" val="1336100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9A91DA-88A1-7C4B-97F4-473199D74506}" type="slidenum">
              <a:rPr lang="en-US" smtClean="0"/>
              <a:t>2</a:t>
            </a:fld>
            <a:endParaRPr lang="en-US"/>
          </a:p>
        </p:txBody>
      </p:sp>
    </p:spTree>
    <p:extLst>
      <p:ext uri="{BB962C8B-B14F-4D97-AF65-F5344CB8AC3E}">
        <p14:creationId xmlns:p14="http://schemas.microsoft.com/office/powerpoint/2010/main" val="4046039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11/28/2025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37041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11/28/2025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68700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11/28/2025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3596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11/28/2025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802968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11/28/2025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94350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11/28/2025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9185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11/28/2025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26905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11/28/2025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88040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11/28/2025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85457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11/28/2025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94088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11/28/2025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7706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11/28/2025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586096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s://www.flickr.com/photos/slaterlibrary/4587179404" TargetMode="External"/><Relationship Id="rId3" Type="http://schemas.openxmlformats.org/officeDocument/2006/relationships/diagramLayout" Target="../diagrams/layout1.xml"/><Relationship Id="rId7" Type="http://schemas.openxmlformats.org/officeDocument/2006/relationships/image" Target="../media/image4.jpg"/><Relationship Id="rId12" Type="http://schemas.openxmlformats.org/officeDocument/2006/relationships/hyperlink" Target="https://www.flickr.com/photos/mlange_b/15782749050" TargetMode="Externa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6.jpg"/><Relationship Id="rId5" Type="http://schemas.openxmlformats.org/officeDocument/2006/relationships/diagramColors" Target="../diagrams/colors1.xml"/><Relationship Id="rId10" Type="http://schemas.openxmlformats.org/officeDocument/2006/relationships/hyperlink" Target="https://cs.wikipedia.org/wiki/Sony" TargetMode="External"/><Relationship Id="rId4" Type="http://schemas.openxmlformats.org/officeDocument/2006/relationships/diagramQuickStyle" Target="../diagrams/quickStyle1.xml"/><Relationship Id="rId9"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hyperlink" Target="https://www.flickr.com/photos/132889348@N07/18409023820" TargetMode="External"/><Relationship Id="rId2" Type="http://schemas.openxmlformats.org/officeDocument/2006/relationships/image" Target="../media/image7.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stateofthenet.org/category/2020-sotn/" TargetMode="External"/><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6342D46-0C13-E75E-2154-694C14014767}"/>
              </a:ext>
            </a:extLst>
          </p:cNvPr>
          <p:cNvPicPr>
            <a:picLocks noChangeAspect="1"/>
          </p:cNvPicPr>
          <p:nvPr/>
        </p:nvPicPr>
        <p:blipFill>
          <a:blip r:embed="rId2">
            <a:alphaModFix amt="40000"/>
          </a:blip>
          <a:srcRect t="6606" b="9126"/>
          <a:stretch>
            <a:fillRect/>
          </a:stretch>
        </p:blipFill>
        <p:spPr>
          <a:xfrm>
            <a:off x="20" y="152"/>
            <a:ext cx="12191980" cy="6857848"/>
          </a:xfrm>
          <a:prstGeom prst="rect">
            <a:avLst/>
          </a:prstGeom>
        </p:spPr>
      </p:pic>
      <p:sp>
        <p:nvSpPr>
          <p:cNvPr id="2" name="Title 1">
            <a:extLst>
              <a:ext uri="{FF2B5EF4-FFF2-40B4-BE49-F238E27FC236}">
                <a16:creationId xmlns:a16="http://schemas.microsoft.com/office/drawing/2014/main" id="{2B2F945E-EC14-2FD0-24D6-613CBA0AF0C4}"/>
              </a:ext>
            </a:extLst>
          </p:cNvPr>
          <p:cNvSpPr>
            <a:spLocks noGrp="1"/>
          </p:cNvSpPr>
          <p:nvPr>
            <p:ph type="ctrTitle"/>
          </p:nvPr>
        </p:nvSpPr>
        <p:spPr>
          <a:xfrm>
            <a:off x="640080" y="985233"/>
            <a:ext cx="5758628" cy="3355853"/>
          </a:xfrm>
        </p:spPr>
        <p:txBody>
          <a:bodyPr anchor="t">
            <a:normAutofit/>
          </a:bodyPr>
          <a:lstStyle/>
          <a:p>
            <a:r>
              <a:rPr lang="en-US" sz="6000">
                <a:solidFill>
                  <a:srgbClr val="FFFFFF"/>
                </a:solidFill>
              </a:rPr>
              <a:t>Transition from Physical Media to Streaming</a:t>
            </a:r>
          </a:p>
        </p:txBody>
      </p:sp>
      <p:sp>
        <p:nvSpPr>
          <p:cNvPr id="3" name="Subtitle 2">
            <a:extLst>
              <a:ext uri="{FF2B5EF4-FFF2-40B4-BE49-F238E27FC236}">
                <a16:creationId xmlns:a16="http://schemas.microsoft.com/office/drawing/2014/main" id="{F4DA67D1-2E03-340D-FD98-2BB1B2F2B1A7}"/>
              </a:ext>
            </a:extLst>
          </p:cNvPr>
          <p:cNvSpPr>
            <a:spLocks noGrp="1"/>
          </p:cNvSpPr>
          <p:nvPr>
            <p:ph type="subTitle" idx="1"/>
          </p:nvPr>
        </p:nvSpPr>
        <p:spPr>
          <a:xfrm>
            <a:off x="640080" y="5251621"/>
            <a:ext cx="4439920" cy="1104721"/>
          </a:xfrm>
        </p:spPr>
        <p:txBody>
          <a:bodyPr anchor="t">
            <a:normAutofit/>
          </a:bodyPr>
          <a:lstStyle/>
          <a:p>
            <a:pPr>
              <a:lnSpc>
                <a:spcPct val="120000"/>
              </a:lnSpc>
            </a:pPr>
            <a:r>
              <a:rPr lang="en-US" sz="900">
                <a:solidFill>
                  <a:srgbClr val="FFFFFF"/>
                </a:solidFill>
              </a:rPr>
              <a:t>Nature of Enterprise Computing – Group 15</a:t>
            </a:r>
          </a:p>
          <a:p>
            <a:pPr>
              <a:lnSpc>
                <a:spcPct val="120000"/>
              </a:lnSpc>
            </a:pPr>
            <a:r>
              <a:rPr lang="en-US" sz="900">
                <a:solidFill>
                  <a:srgbClr val="FFFFFF"/>
                </a:solidFill>
              </a:rPr>
              <a:t>By: Cezary Janus, Akaisha Gurung, Domagoj Jurisic, Chris Kiala and Jamiu Kusimo</a:t>
            </a:r>
          </a:p>
        </p:txBody>
      </p:sp>
      <p:cxnSp>
        <p:nvCxnSpPr>
          <p:cNvPr id="11" name="Straight Connector 10">
            <a:extLst>
              <a:ext uri="{FF2B5EF4-FFF2-40B4-BE49-F238E27FC236}">
                <a16:creationId xmlns:a16="http://schemas.microsoft.com/office/drawing/2014/main" id="{F0CE0765-E93C-4D37-9D5F-D464EFB10F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142586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406BD704-01C2-4341-B99A-116CC7EC56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ollywood wants you to forget about DVDs and physical media - YouTube">
            <a:extLst>
              <a:ext uri="{FF2B5EF4-FFF2-40B4-BE49-F238E27FC236}">
                <a16:creationId xmlns:a16="http://schemas.microsoft.com/office/drawing/2014/main" id="{BB634104-093D-88E2-E947-CD192ACCDC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09466"/>
            <a:ext cx="14180949" cy="7476931"/>
          </a:xfrm>
          <a:prstGeom prst="rect">
            <a:avLst/>
          </a:prstGeom>
          <a:noFill/>
          <a:extLst>
            <a:ext uri="{909E8E84-426E-40DD-AFC4-6F175D3DCCD1}">
              <a14:hiddenFill xmlns:a14="http://schemas.microsoft.com/office/drawing/2010/main">
                <a:solidFill>
                  <a:srgbClr val="FFFFFF"/>
                </a:solidFill>
              </a14:hiddenFill>
            </a:ext>
          </a:extLst>
        </p:spPr>
      </p:pic>
      <p:sp useBgFill="1">
        <p:nvSpPr>
          <p:cNvPr id="1033" name="Rectangle 1032">
            <a:extLst>
              <a:ext uri="{FF2B5EF4-FFF2-40B4-BE49-F238E27FC236}">
                <a16:creationId xmlns:a16="http://schemas.microsoft.com/office/drawing/2014/main" id="{0225C01B-A296-4FAA-AA46-794F27DF6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894" y="979075"/>
            <a:ext cx="5777024" cy="5074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244DFB-A66F-5278-A397-BF887936B8A1}"/>
              </a:ext>
            </a:extLst>
          </p:cNvPr>
          <p:cNvSpPr>
            <a:spLocks noGrp="1"/>
          </p:cNvSpPr>
          <p:nvPr>
            <p:ph type="title"/>
          </p:nvPr>
        </p:nvSpPr>
        <p:spPr>
          <a:xfrm>
            <a:off x="1049451" y="1352492"/>
            <a:ext cx="4665540" cy="1143000"/>
          </a:xfrm>
        </p:spPr>
        <p:txBody>
          <a:bodyPr anchor="t">
            <a:normAutofit/>
          </a:bodyPr>
          <a:lstStyle/>
          <a:p>
            <a:pPr>
              <a:lnSpc>
                <a:spcPct val="90000"/>
              </a:lnSpc>
            </a:pPr>
            <a:r>
              <a:rPr lang="en-US" sz="3700"/>
              <a:t>What our project is about:</a:t>
            </a:r>
          </a:p>
        </p:txBody>
      </p:sp>
      <p:cxnSp>
        <p:nvCxnSpPr>
          <p:cNvPr id="1035" name="Straight Connector 1034">
            <a:extLst>
              <a:ext uri="{FF2B5EF4-FFF2-40B4-BE49-F238E27FC236}">
                <a16:creationId xmlns:a16="http://schemas.microsoft.com/office/drawing/2014/main" id="{62713E66-598D-4B8A-9D2A-67C7AF46EF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85673" y="979075"/>
            <a:ext cx="0" cy="507492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107EB3D-64A5-7775-9FBF-A8D2E651A813}"/>
              </a:ext>
            </a:extLst>
          </p:cNvPr>
          <p:cNvSpPr>
            <a:spLocks noGrp="1"/>
          </p:cNvSpPr>
          <p:nvPr>
            <p:ph idx="1"/>
          </p:nvPr>
        </p:nvSpPr>
        <p:spPr>
          <a:xfrm>
            <a:off x="1049454" y="2662356"/>
            <a:ext cx="4665546" cy="3057911"/>
          </a:xfrm>
        </p:spPr>
        <p:txBody>
          <a:bodyPr>
            <a:normAutofit/>
          </a:bodyPr>
          <a:lstStyle/>
          <a:p>
            <a:r>
              <a:rPr lang="en-US" dirty="0"/>
              <a:t>Transition from CD’s, DVD’s and VHS towards services like Spotify and Netflix</a:t>
            </a:r>
          </a:p>
          <a:p>
            <a:r>
              <a:rPr lang="en-US" dirty="0"/>
              <a:t>Historical Development of it</a:t>
            </a:r>
          </a:p>
          <a:p>
            <a:r>
              <a:rPr lang="en-US" dirty="0"/>
              <a:t>Looking it it from business and (x) viewpoints</a:t>
            </a:r>
          </a:p>
          <a:p>
            <a:r>
              <a:rPr lang="en-US" dirty="0"/>
              <a:t>Considering ethical implications of it</a:t>
            </a:r>
          </a:p>
          <a:p>
            <a:pPr marL="0" indent="0">
              <a:buNone/>
            </a:pPr>
            <a:endParaRPr lang="en-US" dirty="0"/>
          </a:p>
          <a:p>
            <a:endParaRPr lang="en-US" dirty="0"/>
          </a:p>
        </p:txBody>
      </p:sp>
    </p:spTree>
    <p:extLst>
      <p:ext uri="{BB962C8B-B14F-4D97-AF65-F5344CB8AC3E}">
        <p14:creationId xmlns:p14="http://schemas.microsoft.com/office/powerpoint/2010/main" val="4114021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B06AB-E393-77E7-2814-B1A22138F681}"/>
              </a:ext>
            </a:extLst>
          </p:cNvPr>
          <p:cNvSpPr>
            <a:spLocks noGrp="1"/>
          </p:cNvSpPr>
          <p:nvPr>
            <p:ph type="title"/>
          </p:nvPr>
        </p:nvSpPr>
        <p:spPr/>
        <p:txBody>
          <a:bodyPr/>
          <a:lstStyle/>
          <a:p>
            <a:r>
              <a:rPr lang="en-US" dirty="0"/>
              <a:t>Historical Timeline</a:t>
            </a:r>
          </a:p>
        </p:txBody>
      </p:sp>
      <p:pic>
        <p:nvPicPr>
          <p:cNvPr id="8" name="Content Placeholder 7" descr="A blue rectangular object with white text&#10;&#10;AI-generated content may be incorrect.">
            <a:extLst>
              <a:ext uri="{FF2B5EF4-FFF2-40B4-BE49-F238E27FC236}">
                <a16:creationId xmlns:a16="http://schemas.microsoft.com/office/drawing/2014/main" id="{765A4882-B47A-682D-7F75-4680E205A017}"/>
              </a:ext>
            </a:extLst>
          </p:cNvPr>
          <p:cNvPicPr>
            <a:picLocks noGrp="1" noChangeAspect="1"/>
          </p:cNvPicPr>
          <p:nvPr>
            <p:ph idx="1"/>
          </p:nvPr>
        </p:nvPicPr>
        <p:blipFill>
          <a:blip r:embed="rId2"/>
          <a:stretch>
            <a:fillRect/>
          </a:stretch>
        </p:blipFill>
        <p:spPr>
          <a:xfrm>
            <a:off x="2694600" y="2154265"/>
            <a:ext cx="6802799" cy="4230903"/>
          </a:xfrm>
        </p:spPr>
      </p:pic>
    </p:spTree>
    <p:extLst>
      <p:ext uri="{BB962C8B-B14F-4D97-AF65-F5344CB8AC3E}">
        <p14:creationId xmlns:p14="http://schemas.microsoft.com/office/powerpoint/2010/main" val="1423737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02ABD-DA2E-3816-EC4C-14364F51EE04}"/>
              </a:ext>
            </a:extLst>
          </p:cNvPr>
          <p:cNvSpPr>
            <a:spLocks noGrp="1"/>
          </p:cNvSpPr>
          <p:nvPr>
            <p:ph type="title"/>
          </p:nvPr>
        </p:nvSpPr>
        <p:spPr/>
        <p:txBody>
          <a:bodyPr/>
          <a:lstStyle/>
          <a:p>
            <a:r>
              <a:rPr lang="en-US" dirty="0"/>
              <a:t>Physical Era</a:t>
            </a:r>
          </a:p>
        </p:txBody>
      </p:sp>
      <p:graphicFrame>
        <p:nvGraphicFramePr>
          <p:cNvPr id="11" name="Content Placeholder 2">
            <a:extLst>
              <a:ext uri="{FF2B5EF4-FFF2-40B4-BE49-F238E27FC236}">
                <a16:creationId xmlns:a16="http://schemas.microsoft.com/office/drawing/2014/main" id="{621EEB63-7276-A5BC-0AE2-1BFFE96E76B1}"/>
              </a:ext>
            </a:extLst>
          </p:cNvPr>
          <p:cNvGraphicFramePr>
            <a:graphicFrameLocks noGrp="1"/>
          </p:cNvGraphicFramePr>
          <p:nvPr>
            <p:ph idx="1"/>
            <p:extLst>
              <p:ext uri="{D42A27DB-BD31-4B8C-83A1-F6EECF244321}">
                <p14:modId xmlns:p14="http://schemas.microsoft.com/office/powerpoint/2010/main" val="2286503338"/>
              </p:ext>
            </p:extLst>
          </p:nvPr>
        </p:nvGraphicFramePr>
        <p:xfrm>
          <a:off x="640080" y="1952786"/>
          <a:ext cx="10890928" cy="42468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Rows of video games in cases&#10;&#10;AI-generated content may be incorrect.">
            <a:extLst>
              <a:ext uri="{FF2B5EF4-FFF2-40B4-BE49-F238E27FC236}">
                <a16:creationId xmlns:a16="http://schemas.microsoft.com/office/drawing/2014/main" id="{B9E651C4-16B8-2FD1-86AC-ED2F138581F0}"/>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4470400" y="3916622"/>
            <a:ext cx="3251200" cy="2438400"/>
          </a:xfrm>
          <a:prstGeom prst="rect">
            <a:avLst/>
          </a:prstGeom>
        </p:spPr>
      </p:pic>
      <p:sp>
        <p:nvSpPr>
          <p:cNvPr id="6" name="TextBox 5">
            <a:extLst>
              <a:ext uri="{FF2B5EF4-FFF2-40B4-BE49-F238E27FC236}">
                <a16:creationId xmlns:a16="http://schemas.microsoft.com/office/drawing/2014/main" id="{2E646AF6-17C6-384D-4C7A-DEFB58E5C6BF}"/>
              </a:ext>
            </a:extLst>
          </p:cNvPr>
          <p:cNvSpPr txBox="1"/>
          <p:nvPr/>
        </p:nvSpPr>
        <p:spPr>
          <a:xfrm>
            <a:off x="5564808" y="6435449"/>
            <a:ext cx="2889573" cy="230832"/>
          </a:xfrm>
          <a:prstGeom prst="rect">
            <a:avLst/>
          </a:prstGeom>
          <a:noFill/>
        </p:spPr>
        <p:txBody>
          <a:bodyPr wrap="square" rtlCol="0">
            <a:spAutoFit/>
          </a:bodyPr>
          <a:lstStyle/>
          <a:p>
            <a:r>
              <a:rPr lang="en-US" sz="900" dirty="0"/>
              <a:t>VHS Tapes in Stores</a:t>
            </a:r>
          </a:p>
        </p:txBody>
      </p:sp>
      <p:pic>
        <p:nvPicPr>
          <p:cNvPr id="8" name="Picture 7" descr="A close-up of a walkman&#10;&#10;AI-generated content may be incorrect.">
            <a:extLst>
              <a:ext uri="{FF2B5EF4-FFF2-40B4-BE49-F238E27FC236}">
                <a16:creationId xmlns:a16="http://schemas.microsoft.com/office/drawing/2014/main" id="{937FB009-ABBC-E8D5-F5DC-A44BA059FC7D}"/>
              </a:ext>
            </a:extLst>
          </p:cNvPr>
          <p:cNvPicPr>
            <a:picLocks noChangeAspect="1"/>
          </p:cNvPicPr>
          <p:nvPr/>
        </p:nvPicPr>
        <p:blipFill>
          <a:blip r:embed="rId9">
            <a:extLst>
              <a:ext uri="{837473B0-CC2E-450A-ABE3-18F120FF3D39}">
                <a1611:picAttrSrcUrl xmlns:a1611="http://schemas.microsoft.com/office/drawing/2016/11/main" r:id="rId10"/>
              </a:ext>
            </a:extLst>
          </a:blip>
          <a:stretch>
            <a:fillRect/>
          </a:stretch>
        </p:blipFill>
        <p:spPr>
          <a:xfrm>
            <a:off x="8547908" y="4072012"/>
            <a:ext cx="2889573" cy="2363437"/>
          </a:xfrm>
          <a:prstGeom prst="rect">
            <a:avLst/>
          </a:prstGeom>
        </p:spPr>
      </p:pic>
      <p:sp>
        <p:nvSpPr>
          <p:cNvPr id="9" name="TextBox 8">
            <a:extLst>
              <a:ext uri="{FF2B5EF4-FFF2-40B4-BE49-F238E27FC236}">
                <a16:creationId xmlns:a16="http://schemas.microsoft.com/office/drawing/2014/main" id="{DA81C5E1-6CF9-91AE-E9B3-DA86E6BED8D3}"/>
              </a:ext>
            </a:extLst>
          </p:cNvPr>
          <p:cNvSpPr txBox="1"/>
          <p:nvPr/>
        </p:nvSpPr>
        <p:spPr>
          <a:xfrm>
            <a:off x="9780884" y="6435449"/>
            <a:ext cx="2889573" cy="230832"/>
          </a:xfrm>
          <a:prstGeom prst="rect">
            <a:avLst/>
          </a:prstGeom>
          <a:noFill/>
        </p:spPr>
        <p:txBody>
          <a:bodyPr wrap="square" rtlCol="0">
            <a:spAutoFit/>
          </a:bodyPr>
          <a:lstStyle/>
          <a:p>
            <a:r>
              <a:rPr lang="en-US" sz="900" dirty="0"/>
              <a:t>Walkman</a:t>
            </a:r>
          </a:p>
        </p:txBody>
      </p:sp>
      <p:pic>
        <p:nvPicPr>
          <p:cNvPr id="12" name="Picture 11" descr="A close-up of several cds&#10;&#10;AI-generated content may be incorrect.">
            <a:extLst>
              <a:ext uri="{FF2B5EF4-FFF2-40B4-BE49-F238E27FC236}">
                <a16:creationId xmlns:a16="http://schemas.microsoft.com/office/drawing/2014/main" id="{0BC9918F-000A-B022-97C4-D69221F17104}"/>
              </a:ext>
            </a:extLst>
          </p:cNvPr>
          <p:cNvPicPr>
            <a:picLocks noChangeAspect="1"/>
          </p:cNvPicPr>
          <p:nvPr/>
        </p:nvPicPr>
        <p:blipFill>
          <a:blip r:embed="rId11">
            <a:extLst>
              <a:ext uri="{837473B0-CC2E-450A-ABE3-18F120FF3D39}">
                <a1611:picAttrSrcUrl xmlns:a1611="http://schemas.microsoft.com/office/drawing/2016/11/main" r:id="rId12"/>
              </a:ext>
            </a:extLst>
          </a:blip>
          <a:stretch>
            <a:fillRect/>
          </a:stretch>
        </p:blipFill>
        <p:spPr>
          <a:xfrm>
            <a:off x="543242" y="3916622"/>
            <a:ext cx="3514004" cy="2343813"/>
          </a:xfrm>
          <a:prstGeom prst="rect">
            <a:avLst/>
          </a:prstGeom>
        </p:spPr>
      </p:pic>
      <p:sp>
        <p:nvSpPr>
          <p:cNvPr id="13" name="TextBox 12">
            <a:extLst>
              <a:ext uri="{FF2B5EF4-FFF2-40B4-BE49-F238E27FC236}">
                <a16:creationId xmlns:a16="http://schemas.microsoft.com/office/drawing/2014/main" id="{5D47B38D-3EA1-E08F-99FD-1BD2991965EE}"/>
              </a:ext>
            </a:extLst>
          </p:cNvPr>
          <p:cNvSpPr txBox="1"/>
          <p:nvPr/>
        </p:nvSpPr>
        <p:spPr>
          <a:xfrm>
            <a:off x="2050147" y="6320033"/>
            <a:ext cx="3514004" cy="230832"/>
          </a:xfrm>
          <a:prstGeom prst="rect">
            <a:avLst/>
          </a:prstGeom>
          <a:noFill/>
        </p:spPr>
        <p:txBody>
          <a:bodyPr wrap="square" rtlCol="0">
            <a:spAutoFit/>
          </a:bodyPr>
          <a:lstStyle/>
          <a:p>
            <a:r>
              <a:rPr lang="en-US" sz="900" dirty="0"/>
              <a:t>CD’s</a:t>
            </a:r>
          </a:p>
        </p:txBody>
      </p:sp>
    </p:spTree>
    <p:extLst>
      <p:ext uri="{BB962C8B-B14F-4D97-AF65-F5344CB8AC3E}">
        <p14:creationId xmlns:p14="http://schemas.microsoft.com/office/powerpoint/2010/main" val="3591255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06BD704-01C2-4341-B99A-116CC7EC56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omputer screen with a login screen&#10;&#10;AI-generated content may be incorrect.">
            <a:extLst>
              <a:ext uri="{FF2B5EF4-FFF2-40B4-BE49-F238E27FC236}">
                <a16:creationId xmlns:a16="http://schemas.microsoft.com/office/drawing/2014/main" id="{8C9D0709-7B68-1BBD-68EE-1C5E32213A7D}"/>
              </a:ext>
            </a:extLst>
          </p:cNvPr>
          <p:cNvPicPr>
            <a:picLocks noChangeAspect="1"/>
          </p:cNvPicPr>
          <p:nvPr/>
        </p:nvPicPr>
        <p:blipFill>
          <a:blip r:embed="rId2">
            <a:extLst>
              <a:ext uri="{837473B0-CC2E-450A-ABE3-18F120FF3D39}">
                <a1611:picAttrSrcUrl xmlns:a1611="http://schemas.microsoft.com/office/drawing/2016/11/main" r:id="rId3"/>
              </a:ext>
            </a:extLst>
          </a:blip>
          <a:srcRect/>
          <a:stretch>
            <a:fillRect/>
          </a:stretch>
        </p:blipFill>
        <p:spPr>
          <a:xfrm>
            <a:off x="-247973" y="-1655861"/>
            <a:ext cx="15353655" cy="8636433"/>
          </a:xfrm>
          <a:prstGeom prst="rect">
            <a:avLst/>
          </a:prstGeom>
        </p:spPr>
      </p:pic>
      <p:sp useBgFill="1">
        <p:nvSpPr>
          <p:cNvPr id="13" name="Rectangle 12">
            <a:extLst>
              <a:ext uri="{FF2B5EF4-FFF2-40B4-BE49-F238E27FC236}">
                <a16:creationId xmlns:a16="http://schemas.microsoft.com/office/drawing/2014/main" id="{0225C01B-A296-4FAA-AA46-794F27DF6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894" y="979075"/>
            <a:ext cx="5777024" cy="5074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66685D-BFCB-4DF4-1223-F2738281BE72}"/>
              </a:ext>
            </a:extLst>
          </p:cNvPr>
          <p:cNvSpPr>
            <a:spLocks noGrp="1"/>
          </p:cNvSpPr>
          <p:nvPr>
            <p:ph type="title"/>
          </p:nvPr>
        </p:nvSpPr>
        <p:spPr>
          <a:xfrm>
            <a:off x="1049451" y="1352492"/>
            <a:ext cx="4665540" cy="1143000"/>
          </a:xfrm>
        </p:spPr>
        <p:txBody>
          <a:bodyPr anchor="t">
            <a:normAutofit/>
          </a:bodyPr>
          <a:lstStyle/>
          <a:p>
            <a:r>
              <a:rPr lang="en-US" dirty="0"/>
              <a:t>Transitional Period</a:t>
            </a:r>
          </a:p>
        </p:txBody>
      </p:sp>
      <p:cxnSp>
        <p:nvCxnSpPr>
          <p:cNvPr id="15" name="Straight Connector 14">
            <a:extLst>
              <a:ext uri="{FF2B5EF4-FFF2-40B4-BE49-F238E27FC236}">
                <a16:creationId xmlns:a16="http://schemas.microsoft.com/office/drawing/2014/main" id="{62713E66-598D-4B8A-9D2A-67C7AF46EF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85673" y="979075"/>
            <a:ext cx="0" cy="507492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715D003-EA24-15DE-D3AE-AD9E212E1558}"/>
              </a:ext>
            </a:extLst>
          </p:cNvPr>
          <p:cNvSpPr>
            <a:spLocks noGrp="1"/>
          </p:cNvSpPr>
          <p:nvPr>
            <p:ph idx="1"/>
          </p:nvPr>
        </p:nvSpPr>
        <p:spPr>
          <a:xfrm>
            <a:off x="1049454" y="2662356"/>
            <a:ext cx="4665546" cy="3057911"/>
          </a:xfrm>
        </p:spPr>
        <p:txBody>
          <a:bodyPr>
            <a:normAutofit/>
          </a:bodyPr>
          <a:lstStyle/>
          <a:p>
            <a:pPr>
              <a:lnSpc>
                <a:spcPct val="110000"/>
              </a:lnSpc>
            </a:pPr>
            <a:r>
              <a:rPr lang="en-US" sz="1700"/>
              <a:t>MP3 File introduced in the 1990s compressing size of audio files</a:t>
            </a:r>
          </a:p>
          <a:p>
            <a:pPr>
              <a:lnSpc>
                <a:spcPct val="110000"/>
              </a:lnSpc>
            </a:pPr>
            <a:r>
              <a:rPr lang="en-US" sz="1700"/>
              <a:t>Peer-To-Peer era launched by Napster; filesharing erupted in popularity</a:t>
            </a:r>
          </a:p>
          <a:p>
            <a:pPr>
              <a:lnSpc>
                <a:spcPct val="110000"/>
              </a:lnSpc>
            </a:pPr>
            <a:r>
              <a:rPr lang="en-US" sz="1700"/>
              <a:t>Napster entered a legal battle with the music industry and shut in 2001</a:t>
            </a:r>
          </a:p>
          <a:p>
            <a:pPr>
              <a:lnSpc>
                <a:spcPct val="110000"/>
              </a:lnSpc>
            </a:pPr>
            <a:r>
              <a:rPr lang="en-US" sz="1700"/>
              <a:t>Peer-To-Peer era clearly showed that the idea of free music was revolutionary for customers</a:t>
            </a:r>
          </a:p>
        </p:txBody>
      </p:sp>
      <p:sp>
        <p:nvSpPr>
          <p:cNvPr id="6" name="TextBox 5">
            <a:extLst>
              <a:ext uri="{FF2B5EF4-FFF2-40B4-BE49-F238E27FC236}">
                <a16:creationId xmlns:a16="http://schemas.microsoft.com/office/drawing/2014/main" id="{73A8F124-5B0B-EF0E-ECDA-787EF8BD966E}"/>
              </a:ext>
            </a:extLst>
          </p:cNvPr>
          <p:cNvSpPr txBox="1"/>
          <p:nvPr/>
        </p:nvSpPr>
        <p:spPr>
          <a:xfrm>
            <a:off x="11974274" y="6752035"/>
            <a:ext cx="3131408" cy="200055"/>
          </a:xfrm>
          <a:prstGeom prst="rect">
            <a:avLst/>
          </a:prstGeom>
          <a:solidFill>
            <a:srgbClr val="000000"/>
          </a:solidFill>
        </p:spPr>
        <p:txBody>
          <a:bodyPr wrap="square" rtlCol="0">
            <a:spAutoFit/>
          </a:bodyPr>
          <a:lstStyle/>
          <a:p>
            <a:pPr algn="r">
              <a:spcAft>
                <a:spcPts val="600"/>
              </a:spcAft>
            </a:pPr>
            <a:r>
              <a:rPr lang="en-US" sz="700">
                <a:solidFill>
                  <a:srgbClr val="FFFFFF"/>
                </a:solidFill>
                <a:hlinkClick r:id="rId3" tooltip="https://www.flickr.com/photos/132889348@N07/18409023820">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endParaRPr>
          </a:p>
        </p:txBody>
      </p:sp>
    </p:spTree>
    <p:extLst>
      <p:ext uri="{BB962C8B-B14F-4D97-AF65-F5344CB8AC3E}">
        <p14:creationId xmlns:p14="http://schemas.microsoft.com/office/powerpoint/2010/main" val="2805760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830DF5-0092-29CD-824C-FB9D7A8E6CC7}"/>
              </a:ext>
            </a:extLst>
          </p:cNvPr>
          <p:cNvSpPr>
            <a:spLocks noGrp="1"/>
          </p:cNvSpPr>
          <p:nvPr>
            <p:ph type="title"/>
          </p:nvPr>
        </p:nvSpPr>
        <p:spPr>
          <a:xfrm>
            <a:off x="640079" y="914400"/>
            <a:ext cx="4261104" cy="1097280"/>
          </a:xfrm>
        </p:spPr>
        <p:txBody>
          <a:bodyPr anchor="t">
            <a:normAutofit/>
          </a:bodyPr>
          <a:lstStyle/>
          <a:p>
            <a:r>
              <a:rPr lang="en-US" sz="3600"/>
              <a:t>Streaming Era</a:t>
            </a:r>
          </a:p>
        </p:txBody>
      </p:sp>
      <p:sp>
        <p:nvSpPr>
          <p:cNvPr id="3" name="Content Placeholder 2">
            <a:extLst>
              <a:ext uri="{FF2B5EF4-FFF2-40B4-BE49-F238E27FC236}">
                <a16:creationId xmlns:a16="http://schemas.microsoft.com/office/drawing/2014/main" id="{416C9BE7-303F-EE17-7367-91BF980E7243}"/>
              </a:ext>
            </a:extLst>
          </p:cNvPr>
          <p:cNvSpPr>
            <a:spLocks noGrp="1"/>
          </p:cNvSpPr>
          <p:nvPr>
            <p:ph idx="1"/>
          </p:nvPr>
        </p:nvSpPr>
        <p:spPr>
          <a:xfrm>
            <a:off x="640079" y="2176036"/>
            <a:ext cx="4261104" cy="4121887"/>
          </a:xfrm>
        </p:spPr>
        <p:txBody>
          <a:bodyPr>
            <a:normAutofit/>
          </a:bodyPr>
          <a:lstStyle/>
          <a:p>
            <a:pPr>
              <a:lnSpc>
                <a:spcPct val="110000"/>
              </a:lnSpc>
            </a:pPr>
            <a:r>
              <a:rPr lang="en-US" sz="1400"/>
              <a:t>Apple launches iTunes offering digital downloads for less than $1</a:t>
            </a:r>
          </a:p>
          <a:p>
            <a:pPr>
              <a:lnSpc>
                <a:spcPct val="110000"/>
              </a:lnSpc>
            </a:pPr>
            <a:r>
              <a:rPr lang="en-US" sz="1400"/>
              <a:t>iPod released and becomes a symbol of portable listening</a:t>
            </a:r>
          </a:p>
          <a:p>
            <a:pPr>
              <a:lnSpc>
                <a:spcPct val="110000"/>
              </a:lnSpc>
            </a:pPr>
            <a:r>
              <a:rPr lang="en-US" sz="1400"/>
              <a:t>YouTube launched streaming user-generated content</a:t>
            </a:r>
          </a:p>
          <a:p>
            <a:pPr>
              <a:lnSpc>
                <a:spcPct val="110000"/>
              </a:lnSpc>
            </a:pPr>
            <a:r>
              <a:rPr lang="en-US" sz="1400"/>
              <a:t>Spotify and Netflix launch in late 2008’s</a:t>
            </a:r>
          </a:p>
          <a:p>
            <a:pPr>
              <a:lnSpc>
                <a:spcPct val="110000"/>
              </a:lnSpc>
            </a:pPr>
            <a:r>
              <a:rPr lang="en-US" sz="1400"/>
              <a:t>Netflix produces and releases 2013 shifting from simply licensing content</a:t>
            </a:r>
          </a:p>
          <a:p>
            <a:pPr>
              <a:lnSpc>
                <a:spcPct val="110000"/>
              </a:lnSpc>
            </a:pPr>
            <a:r>
              <a:rPr lang="en-US" sz="1400"/>
              <a:t>Spotify faces pay disputes</a:t>
            </a:r>
          </a:p>
          <a:p>
            <a:pPr>
              <a:lnSpc>
                <a:spcPct val="110000"/>
              </a:lnSpc>
            </a:pPr>
            <a:r>
              <a:rPr lang="en-US" sz="1400"/>
              <a:t>Competition grows; studios create their own streaming apps instead of licensing. </a:t>
            </a:r>
          </a:p>
          <a:p>
            <a:pPr>
              <a:lnSpc>
                <a:spcPct val="110000"/>
              </a:lnSpc>
            </a:pPr>
            <a:r>
              <a:rPr lang="en-US" sz="1400"/>
              <a:t>Streaming wars started. </a:t>
            </a:r>
          </a:p>
          <a:p>
            <a:pPr>
              <a:lnSpc>
                <a:spcPct val="110000"/>
              </a:lnSpc>
            </a:pPr>
            <a:endParaRPr lang="en-US" sz="1400"/>
          </a:p>
        </p:txBody>
      </p:sp>
      <p:pic>
        <p:nvPicPr>
          <p:cNvPr id="5" name="Picture 4" descr="A group of logos of different brands&#10;&#10;AI-generated content may be incorrect.">
            <a:extLst>
              <a:ext uri="{FF2B5EF4-FFF2-40B4-BE49-F238E27FC236}">
                <a16:creationId xmlns:a16="http://schemas.microsoft.com/office/drawing/2014/main" id="{DE119D44-ABBA-1985-6982-1522E2B8CF44}"/>
              </a:ext>
            </a:extLst>
          </p:cNvPr>
          <p:cNvPicPr>
            <a:picLocks noChangeAspect="1"/>
          </p:cNvPicPr>
          <p:nvPr/>
        </p:nvPicPr>
        <p:blipFill>
          <a:blip r:embed="rId2">
            <a:extLst>
              <a:ext uri="{837473B0-CC2E-450A-ABE3-18F120FF3D39}">
                <a1611:picAttrSrcUrl xmlns:a1611="http://schemas.microsoft.com/office/drawing/2016/11/main" r:id="rId3"/>
              </a:ext>
            </a:extLst>
          </a:blip>
          <a:srcRect l="4731" r="3915"/>
          <a:stretch>
            <a:fillRect/>
          </a:stretch>
        </p:blipFill>
        <p:spPr>
          <a:xfrm>
            <a:off x="4901183" y="436184"/>
            <a:ext cx="7290817" cy="5985632"/>
          </a:xfrm>
          <a:prstGeom prst="rect">
            <a:avLst/>
          </a:prstGeom>
        </p:spPr>
      </p:pic>
      <p:cxnSp>
        <p:nvCxnSpPr>
          <p:cNvPr id="13" name="Straight Connector 12">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72328" y="6267921"/>
            <a:ext cx="6519672" cy="2"/>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641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54623C-14BE-746A-7BAC-FA73E8C2A1AE}"/>
              </a:ext>
            </a:extLst>
          </p:cNvPr>
          <p:cNvSpPr>
            <a:spLocks noGrp="1"/>
          </p:cNvSpPr>
          <p:nvPr>
            <p:ph type="title"/>
          </p:nvPr>
        </p:nvSpPr>
        <p:spPr>
          <a:xfrm>
            <a:off x="640080" y="1146313"/>
            <a:ext cx="5852160" cy="1097280"/>
          </a:xfrm>
        </p:spPr>
        <p:txBody>
          <a:bodyPr anchor="t">
            <a:normAutofit/>
          </a:bodyPr>
          <a:lstStyle/>
          <a:p>
            <a:r>
              <a:rPr lang="en-IE" dirty="0"/>
              <a:t>Business Viewpoint</a:t>
            </a:r>
            <a:endParaRPr lang="en-150" dirty="0"/>
          </a:p>
        </p:txBody>
      </p:sp>
      <p:cxnSp>
        <p:nvCxnSpPr>
          <p:cNvPr id="42" name="Straight Connector 4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628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6" name="Content Placeholder 8">
            <a:extLst>
              <a:ext uri="{FF2B5EF4-FFF2-40B4-BE49-F238E27FC236}">
                <a16:creationId xmlns:a16="http://schemas.microsoft.com/office/drawing/2014/main" id="{AE49713C-A370-9CE2-B7EF-7DE55B47F109}"/>
              </a:ext>
            </a:extLst>
          </p:cNvPr>
          <p:cNvSpPr>
            <a:spLocks noGrp="1"/>
          </p:cNvSpPr>
          <p:nvPr>
            <p:ph idx="1"/>
          </p:nvPr>
        </p:nvSpPr>
        <p:spPr>
          <a:xfrm>
            <a:off x="640080" y="2062003"/>
            <a:ext cx="6227197" cy="3664685"/>
          </a:xfrm>
        </p:spPr>
        <p:txBody>
          <a:bodyPr>
            <a:noAutofit/>
          </a:bodyPr>
          <a:lstStyle/>
          <a:p>
            <a:pPr marL="0" indent="0">
              <a:lnSpc>
                <a:spcPct val="110000"/>
              </a:lnSpc>
              <a:buNone/>
            </a:pPr>
            <a:r>
              <a:rPr lang="en-GB" sz="1600" dirty="0"/>
              <a:t>Streaming changed how companies make money because instead of people buying DVDs or digital copies once, they now get steady monthly income. This makes it easier for companies to plan what they want to do next. They also spend a lot on new shows and movies so people don’t cancel. The downside is that prices keep going up and a lot of content gets removed whenever deals change.</a:t>
            </a:r>
          </a:p>
          <a:p>
            <a:pPr marL="0" indent="0">
              <a:lnSpc>
                <a:spcPct val="110000"/>
              </a:lnSpc>
              <a:buNone/>
            </a:pPr>
            <a:endParaRPr lang="en-GB" sz="1600" dirty="0"/>
          </a:p>
          <a:p>
            <a:pPr marL="0" indent="0">
              <a:lnSpc>
                <a:spcPct val="110000"/>
              </a:lnSpc>
              <a:buNone/>
            </a:pPr>
            <a:r>
              <a:rPr lang="en-GB" sz="1600" dirty="0"/>
              <a:t>Key Points:</a:t>
            </a:r>
          </a:p>
          <a:p>
            <a:pPr>
              <a:lnSpc>
                <a:spcPct val="110000"/>
              </a:lnSpc>
            </a:pPr>
            <a:r>
              <a:rPr lang="en-GB" sz="1600" dirty="0"/>
              <a:t>Monthly payments instead of one-time purchases</a:t>
            </a:r>
          </a:p>
          <a:p>
            <a:pPr>
              <a:lnSpc>
                <a:spcPct val="110000"/>
              </a:lnSpc>
            </a:pPr>
            <a:r>
              <a:rPr lang="en-GB" sz="1600" dirty="0"/>
              <a:t>Big spending on new shows</a:t>
            </a:r>
          </a:p>
          <a:p>
            <a:pPr>
              <a:lnSpc>
                <a:spcPct val="110000"/>
              </a:lnSpc>
            </a:pPr>
            <a:r>
              <a:rPr lang="en-GB" sz="1600" dirty="0"/>
              <a:t>Customers pay for access, not ownership</a:t>
            </a:r>
          </a:p>
          <a:p>
            <a:pPr>
              <a:lnSpc>
                <a:spcPct val="110000"/>
              </a:lnSpc>
            </a:pPr>
            <a:r>
              <a:rPr lang="en-GB" sz="1600" dirty="0"/>
              <a:t>Content can be removed anytime</a:t>
            </a:r>
          </a:p>
          <a:p>
            <a:pPr>
              <a:lnSpc>
                <a:spcPct val="110000"/>
              </a:lnSpc>
            </a:pPr>
            <a:r>
              <a:rPr lang="en-GB" sz="1600" dirty="0"/>
              <a:t>Prices keep increasing</a:t>
            </a:r>
            <a:endParaRPr lang="en-US" sz="1600" dirty="0"/>
          </a:p>
        </p:txBody>
      </p:sp>
      <p:pic>
        <p:nvPicPr>
          <p:cNvPr id="5" name="Content Placeholder 4" descr="A group of money in front of a screen&#10;&#10;AI-generated content may be incorrect.">
            <a:extLst>
              <a:ext uri="{FF2B5EF4-FFF2-40B4-BE49-F238E27FC236}">
                <a16:creationId xmlns:a16="http://schemas.microsoft.com/office/drawing/2014/main" id="{9D775D83-4494-107B-F8D0-E09E07CF3F03}"/>
              </a:ext>
            </a:extLst>
          </p:cNvPr>
          <p:cNvPicPr>
            <a:picLocks noChangeAspect="1"/>
          </p:cNvPicPr>
          <p:nvPr/>
        </p:nvPicPr>
        <p:blipFill>
          <a:blip r:embed="rId2"/>
          <a:srcRect l="31203" r="29047"/>
          <a:stretch>
            <a:fillRect/>
          </a:stretch>
        </p:blipFill>
        <p:spPr>
          <a:xfrm>
            <a:off x="7345680" y="10"/>
            <a:ext cx="4846320" cy="6857990"/>
          </a:xfrm>
          <a:prstGeom prst="rect">
            <a:avLst/>
          </a:prstGeom>
        </p:spPr>
      </p:pic>
    </p:spTree>
    <p:extLst>
      <p:ext uri="{BB962C8B-B14F-4D97-AF65-F5344CB8AC3E}">
        <p14:creationId xmlns:p14="http://schemas.microsoft.com/office/powerpoint/2010/main" val="1798334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DE329E88-4928-C815-9571-7DE1FB60CBDD}"/>
              </a:ext>
            </a:extLst>
          </p:cNvPr>
          <p:cNvSpPr>
            <a:spLocks noGrp="1"/>
          </p:cNvSpPr>
          <p:nvPr>
            <p:ph type="title"/>
          </p:nvPr>
        </p:nvSpPr>
        <p:spPr>
          <a:xfrm>
            <a:off x="640080" y="914401"/>
            <a:ext cx="4306824" cy="1477817"/>
          </a:xfrm>
        </p:spPr>
        <p:txBody>
          <a:bodyPr>
            <a:normAutofit/>
          </a:bodyPr>
          <a:lstStyle/>
          <a:p>
            <a:r>
              <a:rPr lang="en-IE" dirty="0"/>
              <a:t>Societal Viewpoint</a:t>
            </a:r>
            <a:endParaRPr lang="en-150" dirty="0"/>
          </a:p>
        </p:txBody>
      </p:sp>
      <p:pic>
        <p:nvPicPr>
          <p:cNvPr id="13" name="Content Placeholder 12" descr="A screenshot of a television screen&#10;&#10;AI-generated content may be incorrect.">
            <a:extLst>
              <a:ext uri="{FF2B5EF4-FFF2-40B4-BE49-F238E27FC236}">
                <a16:creationId xmlns:a16="http://schemas.microsoft.com/office/drawing/2014/main" id="{832C858A-48CD-817E-D2FB-4C1436589A6E}"/>
              </a:ext>
            </a:extLst>
          </p:cNvPr>
          <p:cNvPicPr>
            <a:picLocks noChangeAspect="1"/>
          </p:cNvPicPr>
          <p:nvPr/>
        </p:nvPicPr>
        <p:blipFill>
          <a:blip r:embed="rId2"/>
          <a:srcRect l="18830" r="5746" b="-1"/>
          <a:stretch>
            <a:fillRect/>
          </a:stretch>
        </p:blipFill>
        <p:spPr>
          <a:xfrm>
            <a:off x="1" y="2613892"/>
            <a:ext cx="4946906" cy="3689359"/>
          </a:xfrm>
          <a:prstGeom prst="rect">
            <a:avLst/>
          </a:prstGeom>
        </p:spPr>
      </p:pic>
      <p:cxnSp>
        <p:nvCxnSpPr>
          <p:cNvPr id="44" name="Straight Connector 43">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7" name="Content Placeholder 16">
            <a:extLst>
              <a:ext uri="{FF2B5EF4-FFF2-40B4-BE49-F238E27FC236}">
                <a16:creationId xmlns:a16="http://schemas.microsoft.com/office/drawing/2014/main" id="{FCEB36D4-6FDE-47B4-958C-51A8A13F3E20}"/>
              </a:ext>
            </a:extLst>
          </p:cNvPr>
          <p:cNvSpPr>
            <a:spLocks noGrp="1"/>
          </p:cNvSpPr>
          <p:nvPr>
            <p:ph idx="1"/>
          </p:nvPr>
        </p:nvSpPr>
        <p:spPr>
          <a:xfrm>
            <a:off x="5641848" y="1014984"/>
            <a:ext cx="5889161" cy="5288267"/>
          </a:xfrm>
        </p:spPr>
        <p:txBody>
          <a:bodyPr>
            <a:normAutofit/>
          </a:bodyPr>
          <a:lstStyle/>
          <a:p>
            <a:pPr marL="0" indent="0">
              <a:lnSpc>
                <a:spcPct val="110000"/>
              </a:lnSpc>
              <a:buNone/>
            </a:pPr>
            <a:r>
              <a:rPr lang="en-GB" sz="1700" dirty="0"/>
              <a:t>Streaming made things more accessible because people can watch almost anything at home. It got even more popular during COVID when everyone was stuck inside. But price increases and content leaving platforms cause problems, and a lot of people end up turning to piracy because they can’t afford multiple subscriptions.</a:t>
            </a:r>
          </a:p>
          <a:p>
            <a:pPr marL="0" indent="0">
              <a:lnSpc>
                <a:spcPct val="110000"/>
              </a:lnSpc>
              <a:buNone/>
            </a:pPr>
            <a:endParaRPr lang="en-GB" sz="1700" dirty="0"/>
          </a:p>
          <a:p>
            <a:pPr marL="0" indent="0">
              <a:lnSpc>
                <a:spcPct val="110000"/>
              </a:lnSpc>
              <a:buNone/>
            </a:pPr>
            <a:r>
              <a:rPr lang="en-GB" sz="1700" dirty="0"/>
              <a:t>Main Points:</a:t>
            </a:r>
          </a:p>
          <a:p>
            <a:pPr>
              <a:lnSpc>
                <a:spcPct val="110000"/>
              </a:lnSpc>
            </a:pPr>
            <a:r>
              <a:rPr lang="en-GB" sz="1700" dirty="0"/>
              <a:t>Easier access for everyone</a:t>
            </a:r>
          </a:p>
          <a:p>
            <a:pPr>
              <a:lnSpc>
                <a:spcPct val="110000"/>
              </a:lnSpc>
            </a:pPr>
            <a:r>
              <a:rPr lang="en-GB" sz="1700" dirty="0"/>
              <a:t>COVID made streaming grow</a:t>
            </a:r>
          </a:p>
          <a:p>
            <a:pPr>
              <a:lnSpc>
                <a:spcPct val="110000"/>
              </a:lnSpc>
            </a:pPr>
            <a:r>
              <a:rPr lang="en-GB" sz="1700" dirty="0"/>
              <a:t>Price hikes increase piracy</a:t>
            </a:r>
          </a:p>
          <a:p>
            <a:pPr>
              <a:lnSpc>
                <a:spcPct val="110000"/>
              </a:lnSpc>
            </a:pPr>
            <a:r>
              <a:rPr lang="en-GB" sz="1700" dirty="0"/>
              <a:t>Original shows keep people loyal</a:t>
            </a:r>
          </a:p>
          <a:p>
            <a:pPr>
              <a:lnSpc>
                <a:spcPct val="110000"/>
              </a:lnSpc>
            </a:pPr>
            <a:r>
              <a:rPr lang="en-GB" sz="1700" dirty="0"/>
              <a:t>Less demand for physical media</a:t>
            </a:r>
            <a:endParaRPr lang="en-US" sz="1700" dirty="0"/>
          </a:p>
        </p:txBody>
      </p:sp>
    </p:spTree>
    <p:extLst>
      <p:ext uri="{BB962C8B-B14F-4D97-AF65-F5344CB8AC3E}">
        <p14:creationId xmlns:p14="http://schemas.microsoft.com/office/powerpoint/2010/main" val="2555484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604605-44DE-1E71-B03F-1E77D94EB062}"/>
              </a:ext>
            </a:extLst>
          </p:cNvPr>
          <p:cNvSpPr>
            <a:spLocks noGrp="1"/>
          </p:cNvSpPr>
          <p:nvPr>
            <p:ph type="title"/>
          </p:nvPr>
        </p:nvSpPr>
        <p:spPr>
          <a:xfrm>
            <a:off x="389937" y="597225"/>
            <a:ext cx="4261104" cy="1097280"/>
          </a:xfrm>
        </p:spPr>
        <p:txBody>
          <a:bodyPr anchor="t">
            <a:noAutofit/>
          </a:bodyPr>
          <a:lstStyle/>
          <a:p>
            <a:pPr>
              <a:lnSpc>
                <a:spcPct val="90000"/>
              </a:lnSpc>
            </a:pPr>
            <a:r>
              <a:rPr lang="en-IE" dirty="0"/>
              <a:t>Ethical Considerations</a:t>
            </a:r>
            <a:endParaRPr lang="en-150" dirty="0"/>
          </a:p>
        </p:txBody>
      </p:sp>
      <p:sp>
        <p:nvSpPr>
          <p:cNvPr id="3" name="Content Placeholder 2">
            <a:extLst>
              <a:ext uri="{FF2B5EF4-FFF2-40B4-BE49-F238E27FC236}">
                <a16:creationId xmlns:a16="http://schemas.microsoft.com/office/drawing/2014/main" id="{82D05133-DC95-3FFD-D404-7DF964CB77AC}"/>
              </a:ext>
            </a:extLst>
          </p:cNvPr>
          <p:cNvSpPr>
            <a:spLocks noGrp="1"/>
          </p:cNvSpPr>
          <p:nvPr>
            <p:ph idx="1"/>
          </p:nvPr>
        </p:nvSpPr>
        <p:spPr>
          <a:xfrm>
            <a:off x="389937" y="1960428"/>
            <a:ext cx="5030201" cy="4121887"/>
          </a:xfrm>
        </p:spPr>
        <p:txBody>
          <a:bodyPr>
            <a:noAutofit/>
          </a:bodyPr>
          <a:lstStyle/>
          <a:p>
            <a:pPr marL="0" indent="0">
              <a:lnSpc>
                <a:spcPct val="110000"/>
              </a:lnSpc>
              <a:buNone/>
            </a:pPr>
            <a:r>
              <a:rPr lang="en-GB" sz="1600" dirty="0"/>
              <a:t>Streaming is handy, but it does have issues. Some platforms make cancellation harder than it should be. They collect a lot of data about what people watch. Creators usually don’t earn much from streams, and even though it’s digital, streaming still adds to environmental impact.</a:t>
            </a:r>
          </a:p>
          <a:p>
            <a:pPr marL="0" indent="0">
              <a:lnSpc>
                <a:spcPct val="110000"/>
              </a:lnSpc>
              <a:buNone/>
            </a:pPr>
            <a:endParaRPr lang="en-GB" sz="1600" dirty="0"/>
          </a:p>
          <a:p>
            <a:pPr marL="0" indent="0">
              <a:lnSpc>
                <a:spcPct val="110000"/>
              </a:lnSpc>
              <a:buNone/>
            </a:pPr>
            <a:r>
              <a:rPr lang="en-GB" sz="1600" dirty="0"/>
              <a:t>Points to Highlight:</a:t>
            </a:r>
          </a:p>
          <a:p>
            <a:pPr>
              <a:lnSpc>
                <a:spcPct val="110000"/>
              </a:lnSpc>
            </a:pPr>
            <a:r>
              <a:rPr lang="en-GB" sz="1600" dirty="0"/>
              <a:t>Hard-to-cancel accounts</a:t>
            </a:r>
          </a:p>
          <a:p>
            <a:pPr>
              <a:lnSpc>
                <a:spcPct val="110000"/>
              </a:lnSpc>
            </a:pPr>
            <a:r>
              <a:rPr lang="en-GB" sz="1600" dirty="0"/>
              <a:t>Lots of data collected</a:t>
            </a:r>
          </a:p>
          <a:p>
            <a:pPr>
              <a:lnSpc>
                <a:spcPct val="110000"/>
              </a:lnSpc>
            </a:pPr>
            <a:r>
              <a:rPr lang="en-GB" sz="1600" dirty="0"/>
              <a:t>Low creator pay</a:t>
            </a:r>
          </a:p>
          <a:p>
            <a:pPr>
              <a:lnSpc>
                <a:spcPct val="110000"/>
              </a:lnSpc>
            </a:pPr>
            <a:r>
              <a:rPr lang="en-GB" sz="1600" dirty="0"/>
              <a:t>Environmental impact</a:t>
            </a:r>
          </a:p>
          <a:p>
            <a:pPr>
              <a:lnSpc>
                <a:spcPct val="110000"/>
              </a:lnSpc>
            </a:pPr>
            <a:r>
              <a:rPr lang="en-GB" sz="1600" dirty="0"/>
              <a:t>Content can disappear anytime</a:t>
            </a:r>
            <a:endParaRPr lang="en-150" sz="1600" dirty="0"/>
          </a:p>
        </p:txBody>
      </p:sp>
      <p:pic>
        <p:nvPicPr>
          <p:cNvPr id="5" name="Picture 4" descr="A screen shot of a phone&#10;&#10;AI-generated content may be incorrect.">
            <a:extLst>
              <a:ext uri="{FF2B5EF4-FFF2-40B4-BE49-F238E27FC236}">
                <a16:creationId xmlns:a16="http://schemas.microsoft.com/office/drawing/2014/main" id="{D9A2E094-949C-669C-A918-8FA9ECBADE63}"/>
              </a:ext>
            </a:extLst>
          </p:cNvPr>
          <p:cNvPicPr>
            <a:picLocks noChangeAspect="1"/>
          </p:cNvPicPr>
          <p:nvPr/>
        </p:nvPicPr>
        <p:blipFill>
          <a:blip r:embed="rId2"/>
          <a:srcRect l="13894" r="17589" b="-2"/>
          <a:stretch>
            <a:fillRect/>
          </a:stretch>
        </p:blipFill>
        <p:spPr>
          <a:xfrm>
            <a:off x="5671128" y="914399"/>
            <a:ext cx="6520872" cy="5353521"/>
          </a:xfrm>
          <a:prstGeom prst="rect">
            <a:avLst/>
          </a:prstGeom>
        </p:spPr>
      </p:pic>
      <p:cxnSp>
        <p:nvCxnSpPr>
          <p:cNvPr id="23" name="Straight Connector 22">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72328" y="6267921"/>
            <a:ext cx="6519672" cy="2"/>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8782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0" name="Rectangle 9">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D9A4A9-00E0-5694-C1DC-675794C08C5B}"/>
              </a:ext>
            </a:extLst>
          </p:cNvPr>
          <p:cNvSpPr>
            <a:spLocks noGrp="1"/>
          </p:cNvSpPr>
          <p:nvPr>
            <p:ph type="title"/>
          </p:nvPr>
        </p:nvSpPr>
        <p:spPr>
          <a:xfrm>
            <a:off x="1946564" y="1249217"/>
            <a:ext cx="8298873" cy="2258284"/>
          </a:xfrm>
        </p:spPr>
        <p:txBody>
          <a:bodyPr vert="horz" lIns="91440" tIns="45720" rIns="91440" bIns="45720" rtlCol="0" anchor="b">
            <a:normAutofit/>
          </a:bodyPr>
          <a:lstStyle/>
          <a:p>
            <a:pPr algn="ctr"/>
            <a:r>
              <a:rPr lang="en-US" sz="6600"/>
              <a:t>Thank you for listening!</a:t>
            </a:r>
          </a:p>
        </p:txBody>
      </p:sp>
      <p:sp>
        <p:nvSpPr>
          <p:cNvPr id="3" name="Content Placeholder 2">
            <a:extLst>
              <a:ext uri="{FF2B5EF4-FFF2-40B4-BE49-F238E27FC236}">
                <a16:creationId xmlns:a16="http://schemas.microsoft.com/office/drawing/2014/main" id="{08FE87B6-0E86-7F3D-F203-6D3508E3990C}"/>
              </a:ext>
            </a:extLst>
          </p:cNvPr>
          <p:cNvSpPr>
            <a:spLocks noGrp="1"/>
          </p:cNvSpPr>
          <p:nvPr>
            <p:ph idx="1"/>
          </p:nvPr>
        </p:nvSpPr>
        <p:spPr>
          <a:xfrm>
            <a:off x="1946564" y="4490100"/>
            <a:ext cx="8298873" cy="1282843"/>
          </a:xfrm>
        </p:spPr>
        <p:txBody>
          <a:bodyPr vert="horz" lIns="91440" tIns="45720" rIns="91440" bIns="45720" rtlCol="0" anchor="t">
            <a:normAutofit/>
          </a:bodyPr>
          <a:lstStyle/>
          <a:p>
            <a:pPr marL="0" indent="0" algn="ctr">
              <a:lnSpc>
                <a:spcPct val="130000"/>
              </a:lnSpc>
              <a:buNone/>
            </a:pPr>
            <a:r>
              <a:rPr lang="en-US" sz="2400" b="1" cap="all" spc="300"/>
              <a:t>Any questions?</a:t>
            </a:r>
          </a:p>
        </p:txBody>
      </p:sp>
      <p:cxnSp>
        <p:nvCxnSpPr>
          <p:cNvPr id="12" name="Straight Connector 11">
            <a:extLst>
              <a:ext uri="{FF2B5EF4-FFF2-40B4-BE49-F238E27FC236}">
                <a16:creationId xmlns:a16="http://schemas.microsoft.com/office/drawing/2014/main" id="{5E10C1D6-7EDE-467F-89EA-E0244EB623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30240" y="4290504"/>
            <a:ext cx="73152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4577336"/>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TotalTime>
  <Words>508</Words>
  <Application>Microsoft Office PowerPoint</Application>
  <PresentationFormat>Widescreen</PresentationFormat>
  <Paragraphs>61</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Grandview Display</vt:lpstr>
      <vt:lpstr>DashVTI</vt:lpstr>
      <vt:lpstr>Transition from Physical Media to Streaming</vt:lpstr>
      <vt:lpstr>What our project is about:</vt:lpstr>
      <vt:lpstr>Historical Timeline</vt:lpstr>
      <vt:lpstr>Physical Era</vt:lpstr>
      <vt:lpstr>Transitional Period</vt:lpstr>
      <vt:lpstr>Streaming Era</vt:lpstr>
      <vt:lpstr>Business Viewpoint</vt:lpstr>
      <vt:lpstr>Societal Viewpoint</vt:lpstr>
      <vt:lpstr>Ethical Considerations</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A00021774 Cezary Janus</dc:creator>
  <cp:lastModifiedBy>A00032309 Akaisha Gurung</cp:lastModifiedBy>
  <cp:revision>3</cp:revision>
  <dcterms:created xsi:type="dcterms:W3CDTF">2025-11-26T13:47:17Z</dcterms:created>
  <dcterms:modified xsi:type="dcterms:W3CDTF">2025-11-28T13:06:49Z</dcterms:modified>
</cp:coreProperties>
</file>